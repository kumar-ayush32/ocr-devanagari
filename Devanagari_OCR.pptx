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89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vesh Dhurandher" userId="33c8cbfb362b3607" providerId="LiveId" clId="{1CC75881-68C0-44B5-9173-50F984537BD9}"/>
    <pc:docChg chg="modSld">
      <pc:chgData name="Devesh Dhurandher" userId="33c8cbfb362b3607" providerId="LiveId" clId="{1CC75881-68C0-44B5-9173-50F984537BD9}" dt="2026-04-21T12:00:03.976" v="4" actId="1076"/>
      <pc:docMkLst>
        <pc:docMk/>
      </pc:docMkLst>
      <pc:sldChg chg="modSp mod">
        <pc:chgData name="Devesh Dhurandher" userId="33c8cbfb362b3607" providerId="LiveId" clId="{1CC75881-68C0-44B5-9173-50F984537BD9}" dt="2026-04-21T12:00:03.976" v="4" actId="1076"/>
        <pc:sldMkLst>
          <pc:docMk/>
          <pc:sldMk cId="0" sldId="259"/>
        </pc:sldMkLst>
        <pc:spChg chg="mod">
          <ac:chgData name="Devesh Dhurandher" userId="33c8cbfb362b3607" providerId="LiveId" clId="{1CC75881-68C0-44B5-9173-50F984537BD9}" dt="2026-04-21T11:59:58.310" v="3" actId="1076"/>
          <ac:spMkLst>
            <pc:docMk/>
            <pc:sldMk cId="0" sldId="259"/>
            <ac:spMk id="29" creationId="{00000000-0000-0000-0000-000000000000}"/>
          </ac:spMkLst>
        </pc:spChg>
        <pc:graphicFrameChg chg="mod modGraphic">
          <ac:chgData name="Devesh Dhurandher" userId="33c8cbfb362b3607" providerId="LiveId" clId="{1CC75881-68C0-44B5-9173-50F984537BD9}" dt="2026-04-21T12:00:03.976" v="4" actId="1076"/>
          <ac:graphicFrameMkLst>
            <pc:docMk/>
            <pc:sldMk cId="0" sldId="259"/>
            <ac:graphicFrameMk id="30" creationId="{00000000-0000-0000-0000-000000000000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 CER</c:v>
                </c:pt>
              </c:strCache>
            </c:strRef>
          </c:tx>
          <c:spPr>
            <a:ln w="31750" cap="flat">
              <a:solidFill>
                <a:srgbClr val="1DCFA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DCFAA"/>
              </a:solidFill>
              <a:ln w="9525" cap="flat">
                <a:solidFill>
                  <a:srgbClr val="1DCFAA"/>
                </a:solidFill>
                <a:prstDash val="solid"/>
                <a:round/>
              </a:ln>
              <a:effectLst/>
            </c:spPr>
          </c:marker>
          <c:cat>
            <c:strRef>
              <c:f>Sheet1!$A$2:$A$14</c:f>
              <c:strCache>
                <c:ptCount val="13"/>
                <c:pt idx="0">
                  <c:v>1</c:v>
                </c:pt>
                <c:pt idx="1">
                  <c:v>3</c:v>
                </c:pt>
                <c:pt idx="2">
                  <c:v>5</c:v>
                </c:pt>
                <c:pt idx="3">
                  <c:v>7</c:v>
                </c:pt>
                <c:pt idx="4">
                  <c:v>10</c:v>
                </c:pt>
                <c:pt idx="5">
                  <c:v>13</c:v>
                </c:pt>
                <c:pt idx="6">
                  <c:v>15</c:v>
                </c:pt>
                <c:pt idx="7">
                  <c:v>17</c:v>
                </c:pt>
                <c:pt idx="8">
                  <c:v>20</c:v>
                </c:pt>
                <c:pt idx="9">
                  <c:v>23</c:v>
                </c:pt>
                <c:pt idx="10">
                  <c:v>25</c:v>
                </c:pt>
                <c:pt idx="11">
                  <c:v>27</c:v>
                </c:pt>
                <c:pt idx="12">
                  <c:v>30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0.85</c:v>
                </c:pt>
                <c:pt idx="1">
                  <c:v>0.72</c:v>
                </c:pt>
                <c:pt idx="2">
                  <c:v>0.57999999999999996</c:v>
                </c:pt>
                <c:pt idx="3">
                  <c:v>0.45</c:v>
                </c:pt>
                <c:pt idx="4">
                  <c:v>0.35</c:v>
                </c:pt>
                <c:pt idx="5">
                  <c:v>0.25</c:v>
                </c:pt>
                <c:pt idx="6">
                  <c:v>0.2</c:v>
                </c:pt>
                <c:pt idx="7">
                  <c:v>0.16</c:v>
                </c:pt>
                <c:pt idx="8">
                  <c:v>0.13</c:v>
                </c:pt>
                <c:pt idx="9">
                  <c:v>0.111</c:v>
                </c:pt>
                <c:pt idx="10">
                  <c:v>0.112</c:v>
                </c:pt>
                <c:pt idx="11">
                  <c:v>0.112</c:v>
                </c:pt>
                <c:pt idx="12">
                  <c:v>0.113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2C48-4213-B822-4935E4BDD1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samples</c:v>
                </c:pt>
              </c:strCache>
            </c:strRef>
          </c:tx>
          <c:spPr>
            <a:solidFill>
              <a:srgbClr val="1D9E75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B54-49AD-A0E7-7C3E09A22427}"/>
              </c:ext>
            </c:extLst>
          </c:dPt>
          <c:dPt>
            <c:idx val="1"/>
            <c:invertIfNegative val="0"/>
            <c:bubble3D val="0"/>
            <c:spPr>
              <a:solidFill>
                <a:srgbClr val="5DCA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B54-49AD-A0E7-7C3E09A22427}"/>
              </c:ext>
            </c:extLst>
          </c:dPt>
          <c:dPt>
            <c:idx val="2"/>
            <c:invertIfNegative val="0"/>
            <c:bubble3D val="0"/>
            <c:spPr>
              <a:solidFill>
                <a:srgbClr val="EF9F2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B54-49AD-A0E7-7C3E09A22427}"/>
              </c:ext>
            </c:extLst>
          </c:dPt>
          <c:dPt>
            <c:idx val="3"/>
            <c:invertIfNegative val="0"/>
            <c:bubble3D val="0"/>
            <c:spPr>
              <a:solidFill>
                <a:srgbClr val="D85A3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B54-49AD-A0E7-7C3E09A22427}"/>
              </c:ext>
            </c:extLst>
          </c:dPt>
          <c:dPt>
            <c:idx val="4"/>
            <c:invertIfNegative val="0"/>
            <c:bubble3D val="0"/>
            <c:spPr>
              <a:solidFill>
                <a:srgbClr val="E24B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B54-49AD-A0E7-7C3E09A2242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Perfect
(0%)</c:v>
                </c:pt>
                <c:pt idx="1">
                  <c:v>Good
(&lt;10%)</c:v>
                </c:pt>
                <c:pt idx="2">
                  <c:v>Fair
(&lt;30%)</c:v>
                </c:pt>
                <c:pt idx="3">
                  <c:v>Poor
(&lt;60%)</c:v>
                </c:pt>
                <c:pt idx="4">
                  <c:v>Wrong
(&gt;60%)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38.200000000000003</c:v>
                </c:pt>
                <c:pt idx="1">
                  <c:v>28.5</c:v>
                </c:pt>
                <c:pt idx="2">
                  <c:v>16.3</c:v>
                </c:pt>
                <c:pt idx="3">
                  <c:v>9.4</c:v>
                </c:pt>
                <c:pt idx="4">
                  <c:v>7.6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B54-49AD-A0E7-7C3E09A2242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1851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DCFAA"/>
          </a:solidFill>
          <a:ln w="12700">
            <a:solidFill>
              <a:srgbClr val="1DCF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2743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2743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0" y="2743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023360" y="2743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20640" y="2743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0" y="2743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0" y="2743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0" y="2743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109728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0" y="109728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6080" y="109728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023360" y="109728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109728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109728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0" y="109728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12480" y="109728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192024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28800" y="192024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26080" y="192024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23360" y="192024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20640" y="192024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0" y="192024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0" y="192024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12480" y="192024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" y="274320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28800" y="274320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926080" y="274320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023360" y="274320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120640" y="274320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17920" y="274320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15200" y="274320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412480" y="274320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31520" y="356616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828800" y="356616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926080" y="356616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023360" y="356616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120640" y="356616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17920" y="356616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315200" y="356616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412480" y="356616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31520" y="43891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828800" y="43891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926080" y="43891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023360" y="43891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120640" y="43891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217920" y="43891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315200" y="43891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412480" y="43891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943600" y="-1097280"/>
            <a:ext cx="5029200" cy="5029200"/>
          </a:xfrm>
          <a:prstGeom prst="ellipse">
            <a:avLst/>
          </a:prstGeom>
          <a:solidFill>
            <a:srgbClr val="3B7FE8">
              <a:alpha val="12000"/>
            </a:srgbClr>
          </a:solidFill>
          <a:ln w="12700">
            <a:solidFill>
              <a:srgbClr val="3B7FE8">
                <a:alpha val="12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583680" y="-457200"/>
            <a:ext cx="3657600" cy="3657600"/>
          </a:xfrm>
          <a:prstGeom prst="ellipse">
            <a:avLst/>
          </a:prstGeom>
          <a:solidFill>
            <a:srgbClr val="1DCFAA">
              <a:alpha val="8000"/>
            </a:srgbClr>
          </a:solidFill>
          <a:ln w="12700">
            <a:solidFill>
              <a:srgbClr val="1DCFAA">
                <a:alpha val="8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32320" y="36576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0" b="1" dirty="0">
                <a:solidFill>
                  <a:srgbClr val="FFFFFF">
                    <a:alpha val="12000"/>
                  </a:srgbClr>
                </a:solidFill>
              </a:rPr>
              <a:t>अ</a:t>
            </a:r>
            <a:endParaRPr lang="en-US" sz="14000" dirty="0"/>
          </a:p>
        </p:txBody>
      </p:sp>
      <p:sp>
        <p:nvSpPr>
          <p:cNvPr id="54" name="Shape 52"/>
          <p:cNvSpPr/>
          <p:nvPr/>
        </p:nvSpPr>
        <p:spPr>
          <a:xfrm>
            <a:off x="411480" y="502920"/>
            <a:ext cx="2194560" cy="292608"/>
          </a:xfrm>
          <a:prstGeom prst="roundRect">
            <a:avLst>
              <a:gd name="adj" fmla="val 12500"/>
            </a:avLst>
          </a:prstGeom>
          <a:solidFill>
            <a:srgbClr val="1DCFAA">
              <a:alpha val="80000"/>
            </a:srgbClr>
          </a:solidFill>
          <a:ln w="12700">
            <a:solidFill>
              <a:srgbClr val="1DCFA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11480" y="50292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FFFFFF"/>
                </a:solidFill>
              </a:rPr>
              <a:t>DEEP LEARNING · OCR · NLP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411480" y="96012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for Handwritten</a:t>
            </a:r>
            <a:endParaRPr lang="en-US" sz="3600" dirty="0"/>
          </a:p>
        </p:txBody>
      </p:sp>
      <p:sp>
        <p:nvSpPr>
          <p:cNvPr id="57" name="Text 55"/>
          <p:cNvSpPr/>
          <p:nvPr/>
        </p:nvSpPr>
        <p:spPr>
          <a:xfrm>
            <a:off x="411480" y="1664208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DC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Devanagari Script</a:t>
            </a:r>
            <a:endParaRPr lang="en-US" sz="3600" dirty="0"/>
          </a:p>
        </p:txBody>
      </p:sp>
      <p:sp>
        <p:nvSpPr>
          <p:cNvPr id="58" name="Text 56"/>
          <p:cNvSpPr/>
          <p:nvPr/>
        </p:nvSpPr>
        <p:spPr>
          <a:xfrm>
            <a:off x="411480" y="2359152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Sequence Models</a:t>
            </a:r>
            <a:endParaRPr lang="en-US" sz="3000" dirty="0"/>
          </a:p>
        </p:txBody>
      </p:sp>
      <p:sp>
        <p:nvSpPr>
          <p:cNvPr id="59" name="Shape 57"/>
          <p:cNvSpPr/>
          <p:nvPr/>
        </p:nvSpPr>
        <p:spPr>
          <a:xfrm>
            <a:off x="411480" y="3127248"/>
            <a:ext cx="2560320" cy="36576"/>
          </a:xfrm>
          <a:prstGeom prst="rect">
            <a:avLst/>
          </a:prstGeom>
          <a:solidFill>
            <a:srgbClr val="1DCFAA"/>
          </a:solidFill>
          <a:ln w="12700">
            <a:solidFill>
              <a:srgbClr val="1DCFA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11480" y="331012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 →  Bidirectional LSTM  →  CTC Loss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411480" y="37033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IIIT-HW-Dev Dataset  ·  94 Character Vocabulary  ·  RTX 3050 Ti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7223760" y="4023360"/>
            <a:ext cx="1691640" cy="822960"/>
          </a:xfrm>
          <a:prstGeom prst="roundRect">
            <a:avLst>
              <a:gd name="adj" fmla="val 8889"/>
            </a:avLst>
          </a:prstGeom>
          <a:solidFill>
            <a:srgbClr val="112054"/>
          </a:solidFill>
          <a:ln w="12700">
            <a:solidFill>
              <a:srgbClr val="1DCF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7223760" y="4059936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DC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11.1%</a:t>
            </a:r>
            <a:endParaRPr lang="en-US" sz="2200" dirty="0"/>
          </a:p>
        </p:txBody>
      </p:sp>
      <p:sp>
        <p:nvSpPr>
          <p:cNvPr id="64" name="Text 62"/>
          <p:cNvSpPr/>
          <p:nvPr/>
        </p:nvSpPr>
        <p:spPr>
          <a:xfrm>
            <a:off x="7223760" y="4425696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CER Achieved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822960"/>
          </a:xfrm>
          <a:prstGeom prst="rect">
            <a:avLst/>
          </a:prstGeom>
          <a:solidFill>
            <a:srgbClr val="112054"/>
          </a:solidFill>
          <a:ln w="12700">
            <a:solidFill>
              <a:srgbClr val="11205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Problem Statement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47472" y="96012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960120"/>
            <a:ext cx="2743200" cy="73152"/>
          </a:xfrm>
          <a:prstGeom prst="rect">
            <a:avLst/>
          </a:prstGeom>
          <a:solidFill>
            <a:srgbClr val="3B7FE8"/>
          </a:solidFill>
          <a:ln w="12700">
            <a:solidFill>
              <a:srgbClr val="3B7F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078992"/>
            <a:ext cx="24140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600M+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Devanagari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12064" y="2029968"/>
            <a:ext cx="2414016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Hindi, Sanskrit, Marathi,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Nepali — all use this script.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undigitized document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with no OCR solution.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73552" y="96012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73552" y="960120"/>
            <a:ext cx="2743200" cy="73152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38144" y="1078992"/>
            <a:ext cx="24140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Short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438144" y="2029968"/>
            <a:ext cx="2414016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Vision &amp; Tesseract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not script-specific.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error rates on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cursive handwriting.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99632" y="96012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99632" y="960120"/>
            <a:ext cx="2743200" cy="73152"/>
          </a:xfrm>
          <a:prstGeom prst="rect">
            <a:avLst/>
          </a:prstGeom>
          <a:solidFill>
            <a:srgbClr val="E09A20"/>
          </a:solidFill>
          <a:ln w="12700">
            <a:solidFill>
              <a:srgbClr val="E09A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64224" y="1078992"/>
            <a:ext cx="24140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Barrier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364224" y="2029968"/>
            <a:ext cx="2414016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APIs (Google, AWS)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per API call.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viable for academic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low-resource settings.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47472" y="4572000"/>
            <a:ext cx="8613648" cy="411480"/>
          </a:xfrm>
          <a:prstGeom prst="rect">
            <a:avLst/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47472" y="4572000"/>
            <a:ext cx="8613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DC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Solution:  A dedicated CNN + BiLSTM + CTC model trained exclusively on Devanagari handwriting — free, open, and accurate.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DCFAA"/>
          </a:solidFill>
          <a:ln w="12700">
            <a:solidFill>
              <a:srgbClr val="1DCF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822960"/>
          </a:xfrm>
          <a:prstGeom prst="rect">
            <a:avLst/>
          </a:prstGeom>
          <a:solidFill>
            <a:srgbClr val="112054"/>
          </a:solidFill>
          <a:ln w="12700">
            <a:solidFill>
              <a:srgbClr val="11205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Workflow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920240" y="2642616"/>
            <a:ext cx="109728" cy="0"/>
          </a:xfrm>
          <a:prstGeom prst="line">
            <a:avLst/>
          </a:prstGeom>
          <a:noFill/>
          <a:ln w="19050">
            <a:solidFill>
              <a:srgbClr val="8B9DC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005840"/>
            <a:ext cx="1572768" cy="3291840"/>
          </a:xfrm>
          <a:prstGeom prst="rect">
            <a:avLst/>
          </a:prstGeom>
          <a:solidFill>
            <a:srgbClr val="112054"/>
          </a:solidFill>
          <a:ln w="12700">
            <a:solidFill>
              <a:srgbClr val="3B7F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005840"/>
            <a:ext cx="1572768" cy="54864"/>
          </a:xfrm>
          <a:prstGeom prst="rect">
            <a:avLst/>
          </a:prstGeom>
          <a:solidFill>
            <a:srgbClr val="3B7FE8"/>
          </a:solidFill>
          <a:ln w="12700">
            <a:solidFill>
              <a:srgbClr val="3B7F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" y="1143000"/>
            <a:ext cx="512064" cy="512064"/>
          </a:xfrm>
          <a:prstGeom prst="ellipse">
            <a:avLst/>
          </a:prstGeom>
          <a:solidFill>
            <a:srgbClr val="3B7FE8">
              <a:alpha val="80000"/>
            </a:srgbClr>
          </a:solidFill>
          <a:ln w="12700">
            <a:solidFill>
              <a:srgbClr val="3B7F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11430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38912" y="1755648"/>
            <a:ext cx="13898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76072" y="2468880"/>
            <a:ext cx="1115568" cy="27432"/>
          </a:xfrm>
          <a:prstGeom prst="rect">
            <a:avLst/>
          </a:prstGeom>
          <a:solidFill>
            <a:srgbClr val="3B7FE8">
              <a:alpha val="60000"/>
            </a:srgbClr>
          </a:solidFill>
          <a:ln w="12700">
            <a:solidFill>
              <a:srgbClr val="3B7FE8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578608"/>
            <a:ext cx="138988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IIIT-HW-Dev</a:t>
            </a:r>
            <a:endParaRPr lang="en-US" sz="11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95K word images</a:t>
            </a:r>
            <a:endParaRPr lang="en-US" sz="11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Devanagari script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02736" y="2642616"/>
            <a:ext cx="109728" cy="0"/>
          </a:xfrm>
          <a:prstGeom prst="line">
            <a:avLst/>
          </a:prstGeom>
          <a:noFill/>
          <a:ln w="19050">
            <a:solidFill>
              <a:srgbClr val="8B9DC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29968" y="1005840"/>
            <a:ext cx="1572768" cy="3291840"/>
          </a:xfrm>
          <a:prstGeom prst="rect">
            <a:avLst/>
          </a:prstGeom>
          <a:solidFill>
            <a:srgbClr val="112054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029968" y="1005840"/>
            <a:ext cx="1572768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60320" y="1143000"/>
            <a:ext cx="512064" cy="512064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0" y="11430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121408" y="1755648"/>
            <a:ext cx="13898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Augmentation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258568" y="2468880"/>
            <a:ext cx="1115568" cy="27432"/>
          </a:xfrm>
          <a:prstGeom prst="rect">
            <a:avLst/>
          </a:prstGeom>
          <a:solidFill>
            <a:srgbClr val="8B5CF6">
              <a:alpha val="60000"/>
            </a:srgbClr>
          </a:solidFill>
          <a:ln w="12700">
            <a:solidFill>
              <a:srgbClr val="8B5CF6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21408" y="2578608"/>
            <a:ext cx="138988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Grayscale, resize</a:t>
            </a:r>
            <a:endParaRPr lang="en-US" sz="11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Blur, jitter, warp</a:t>
            </a:r>
            <a:endParaRPr lang="en-US" sz="11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Rotate, sharpen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285232" y="2642616"/>
            <a:ext cx="109728" cy="0"/>
          </a:xfrm>
          <a:prstGeom prst="line">
            <a:avLst/>
          </a:prstGeom>
          <a:noFill/>
          <a:ln w="19050">
            <a:solidFill>
              <a:srgbClr val="8B9DC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12464" y="1005840"/>
            <a:ext cx="1572768" cy="3291840"/>
          </a:xfrm>
          <a:prstGeom prst="rect">
            <a:avLst/>
          </a:prstGeom>
          <a:solidFill>
            <a:srgbClr val="112054"/>
          </a:solidFill>
          <a:ln w="12700">
            <a:solidFill>
              <a:srgbClr val="EC489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712464" y="1005840"/>
            <a:ext cx="1572768" cy="5486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42816" y="1143000"/>
            <a:ext cx="512064" cy="512064"/>
          </a:xfrm>
          <a:prstGeom prst="ellipse">
            <a:avLst/>
          </a:prstGeom>
          <a:solidFill>
            <a:srgbClr val="EC4899">
              <a:alpha val="80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42816" y="11430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803904" y="1755648"/>
            <a:ext cx="13898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941064" y="2468880"/>
            <a:ext cx="1115568" cy="27432"/>
          </a:xfrm>
          <a:prstGeom prst="rect">
            <a:avLst/>
          </a:prstGeom>
          <a:solidFill>
            <a:srgbClr val="EC4899">
              <a:alpha val="60000"/>
            </a:srgbClr>
          </a:solidFill>
          <a:ln w="12700">
            <a:solidFill>
              <a:srgbClr val="EC4899">
                <a:alpha val="6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03904" y="2578608"/>
            <a:ext cx="138988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 characters</a:t>
            </a:r>
            <a:endParaRPr lang="en-US" sz="11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token CTC</a:t>
            </a:r>
            <a:endParaRPr lang="en-US" sz="11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/ decode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967728" y="2642616"/>
            <a:ext cx="109728" cy="0"/>
          </a:xfrm>
          <a:prstGeom prst="line">
            <a:avLst/>
          </a:prstGeom>
          <a:noFill/>
          <a:ln w="19050">
            <a:solidFill>
              <a:srgbClr val="8B9DC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394960" y="1005840"/>
            <a:ext cx="1572768" cy="3291840"/>
          </a:xfrm>
          <a:prstGeom prst="rect">
            <a:avLst/>
          </a:prstGeom>
          <a:solidFill>
            <a:srgbClr val="112054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394960" y="1005840"/>
            <a:ext cx="1572768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25312" y="1143000"/>
            <a:ext cx="512064" cy="512064"/>
          </a:xfrm>
          <a:prstGeom prst="ellipse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25312" y="11430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486400" y="1755648"/>
            <a:ext cx="13898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623560" y="2468880"/>
            <a:ext cx="1115568" cy="27432"/>
          </a:xfrm>
          <a:prstGeom prst="rect">
            <a:avLst/>
          </a:prstGeom>
          <a:solidFill>
            <a:srgbClr val="F59E0B">
              <a:alpha val="60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0" y="2578608"/>
            <a:ext cx="138988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+ BiLSTM</a:t>
            </a:r>
            <a:endParaRPr lang="en-US" sz="11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CTC Loss</a:t>
            </a:r>
            <a:endParaRPr lang="en-US" sz="11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epochs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077456" y="1005840"/>
            <a:ext cx="1572768" cy="3291840"/>
          </a:xfrm>
          <a:prstGeom prst="rect">
            <a:avLst/>
          </a:prstGeom>
          <a:solidFill>
            <a:srgbClr val="112054"/>
          </a:solidFill>
          <a:ln w="12700">
            <a:solidFill>
              <a:srgbClr val="1DCF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077456" y="1005840"/>
            <a:ext cx="1572768" cy="54864"/>
          </a:xfrm>
          <a:prstGeom prst="rect">
            <a:avLst/>
          </a:prstGeom>
          <a:solidFill>
            <a:srgbClr val="1DCFAA"/>
          </a:solidFill>
          <a:ln w="12700">
            <a:solidFill>
              <a:srgbClr val="1DCFA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607808" y="1143000"/>
            <a:ext cx="512064" cy="512064"/>
          </a:xfrm>
          <a:prstGeom prst="ellipse">
            <a:avLst/>
          </a:prstGeom>
          <a:solidFill>
            <a:srgbClr val="1DCFAA">
              <a:alpha val="80000"/>
            </a:srgbClr>
          </a:solidFill>
          <a:ln w="12700">
            <a:solidFill>
              <a:srgbClr val="1DCFA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07808" y="11430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7168896" y="1755648"/>
            <a:ext cx="13898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Inference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7306056" y="2468880"/>
            <a:ext cx="1115568" cy="27432"/>
          </a:xfrm>
          <a:prstGeom prst="rect">
            <a:avLst/>
          </a:prstGeom>
          <a:solidFill>
            <a:srgbClr val="1DCFAA">
              <a:alpha val="60000"/>
            </a:srgbClr>
          </a:solidFill>
          <a:ln w="12700">
            <a:solidFill>
              <a:srgbClr val="1DCFAA">
                <a:alpha val="6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68896" y="2578608"/>
            <a:ext cx="138988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 / WER</a:t>
            </a:r>
            <a:endParaRPr lang="en-US" sz="11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Beam search</a:t>
            </a:r>
            <a:endParaRPr lang="en-US" sz="11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Plots &amp; results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47472" y="4517136"/>
            <a:ext cx="8613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feeds directly into the next — the output of one step is the input of the next.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822960"/>
          </a:xfrm>
          <a:prstGeom prst="rect">
            <a:avLst/>
          </a:prstGeom>
          <a:solidFill>
            <a:srgbClr val="112054"/>
          </a:solidFill>
          <a:ln w="12700">
            <a:solidFill>
              <a:srgbClr val="11205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— IIIT-HW-Dev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47472" y="932688"/>
            <a:ext cx="199339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932688"/>
            <a:ext cx="1993392" cy="64008"/>
          </a:xfrm>
          <a:prstGeom prst="rect">
            <a:avLst/>
          </a:prstGeom>
          <a:solidFill>
            <a:srgbClr val="3B7FE8"/>
          </a:solidFill>
          <a:ln w="12700">
            <a:solidFill>
              <a:srgbClr val="3B7F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005840"/>
            <a:ext cx="1993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B7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95K+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47472" y="1508760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Images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23744" y="932688"/>
            <a:ext cx="199339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23744" y="932688"/>
            <a:ext cx="1993392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23744" y="1005840"/>
            <a:ext cx="1993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523744" y="1508760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(Train / Val / Test)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00016" y="932688"/>
            <a:ext cx="199339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0016" y="932688"/>
            <a:ext cx="1993392" cy="64008"/>
          </a:xfrm>
          <a:prstGeom prst="rect">
            <a:avLst/>
          </a:prstGeom>
          <a:solidFill>
            <a:srgbClr val="1DCFAA"/>
          </a:solidFill>
          <a:ln w="12700">
            <a:solidFill>
              <a:srgbClr val="1DCF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0016" y="1005840"/>
            <a:ext cx="1993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DC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69,853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700016" y="1508760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76288" y="932688"/>
            <a:ext cx="199339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76288" y="932688"/>
            <a:ext cx="1993392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76288" y="1005840"/>
            <a:ext cx="1993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12,869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876288" y="1508760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47472" y="2212848"/>
            <a:ext cx="4041648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" y="23042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Structure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2920" y="2670048"/>
            <a:ext cx="3749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IIIT-HW-Hindi_v1/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HindiSeg/  ← word images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HindiSeg/train/   (sub-folders)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HindiSeg/test/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HindiSeg/val/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train.txt  ← 3.1 MB  annotations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test.txt   ← 565 KB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val.txt    ← 551 KB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lexicon.txt / hindi_vocab.txt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0" y="2212848"/>
            <a:ext cx="438912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36592" y="230428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 Format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736592" y="2670048"/>
            <a:ext cx="4059936" cy="384048"/>
          </a:xfrm>
          <a:prstGeom prst="rect">
            <a:avLst/>
          </a:prstGeom>
          <a:solidFill>
            <a:srgbClr val="112054"/>
          </a:solidFill>
          <a:ln w="12700">
            <a:solidFill>
              <a:srgbClr val="11205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36592" y="2670048"/>
            <a:ext cx="40599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DCF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HindiSeg/train/1/234/7.jpg   दवाओं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36592" y="3127248"/>
            <a:ext cx="405993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line:  &lt;relative image path&gt;  &lt;space&gt;  &lt;Devanagari word&gt;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are UTF-8 encoded Unicode Devanagari strings.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are JPEG, grayscale, variable width.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718304" y="3765374"/>
            <a:ext cx="4059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breakdown</a:t>
            </a:r>
            <a:endParaRPr lang="en-US" sz="12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9241760"/>
              </p:ext>
            </p:extLst>
          </p:nvPr>
        </p:nvGraphicFramePr>
        <p:xfrm>
          <a:off x="4754882" y="3966386"/>
          <a:ext cx="4059936" cy="97536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Split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0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Samples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0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File size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0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Train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69,853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3.1 MB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Validation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12,708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551 KB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Test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12,869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565 KB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DCFAA"/>
          </a:solidFill>
          <a:ln w="12700">
            <a:solidFill>
              <a:srgbClr val="1DCF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822960"/>
          </a:xfrm>
          <a:prstGeom prst="rect">
            <a:avLst/>
          </a:prstGeom>
          <a:solidFill>
            <a:srgbClr val="112054"/>
          </a:solidFill>
          <a:ln w="12700">
            <a:solidFill>
              <a:srgbClr val="11205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&amp; Augmentation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47472" y="93268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C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  (all splits)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47472" y="1426464"/>
            <a:ext cx="402336" cy="402336"/>
          </a:xfrm>
          <a:prstGeom prst="ellipse">
            <a:avLst/>
          </a:prstGeom>
          <a:solidFill>
            <a:srgbClr val="3B7FE8"/>
          </a:solidFill>
          <a:ln w="12700">
            <a:solidFill>
              <a:srgbClr val="3B7F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42646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" y="135331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 Conversion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41248" y="162763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→ single channel L  (PIL .convert('L'))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" y="2267712"/>
            <a:ext cx="402336" cy="402336"/>
          </a:xfrm>
          <a:prstGeom prst="ellipse">
            <a:avLst/>
          </a:prstGeom>
          <a:solidFill>
            <a:srgbClr val="3B7FE8"/>
          </a:solidFill>
          <a:ln w="12700">
            <a:solidFill>
              <a:srgbClr val="3B7F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22677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41248" y="21945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41248" y="24688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32 × 128 px  (H × W)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aspect ratio of character strokes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7472" y="3108960"/>
            <a:ext cx="402336" cy="402336"/>
          </a:xfrm>
          <a:prstGeom prst="ellipse">
            <a:avLst/>
          </a:prstGeom>
          <a:solidFill>
            <a:srgbClr val="3B7FE8"/>
          </a:solidFill>
          <a:ln w="12700">
            <a:solidFill>
              <a:srgbClr val="3B7F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31089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1248" y="303580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ToTensor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41248" y="331012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 Image → FloatTensor [0,1]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3950208"/>
            <a:ext cx="402336" cy="402336"/>
          </a:xfrm>
          <a:prstGeom prst="ellipse">
            <a:avLst/>
          </a:prstGeom>
          <a:solidFill>
            <a:srgbClr val="3B7FE8"/>
          </a:solidFill>
          <a:ln w="12700">
            <a:solidFill>
              <a:srgbClr val="3B7F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395020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41248" y="387705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41248" y="4151376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mean=0.5, std=0.5  →  values in [−1, +1]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914400"/>
            <a:ext cx="4315968" cy="3977640"/>
          </a:xfrm>
          <a:prstGeom prst="rect">
            <a:avLst/>
          </a:prstGeom>
          <a:solidFill>
            <a:srgbClr val="112054"/>
          </a:solidFill>
          <a:ln w="12700">
            <a:solidFill>
              <a:srgbClr val="2A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28032" y="987552"/>
            <a:ext cx="39867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C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 (train split only)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828032" y="1444752"/>
            <a:ext cx="3986784" cy="566928"/>
          </a:xfrm>
          <a:prstGeom prst="rect">
            <a:avLst/>
          </a:prstGeom>
          <a:solidFill>
            <a:srgbClr val="0B1437">
              <a:alpha val="8000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28032" y="1444752"/>
            <a:ext cx="54864" cy="56692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56048" y="149961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Blur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956048" y="175564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kernel=3  |  p=0.30  — simulates ink blur / out-of-focus scan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28032" y="2103120"/>
            <a:ext cx="3986784" cy="566928"/>
          </a:xfrm>
          <a:prstGeom prst="rect">
            <a:avLst/>
          </a:prstGeom>
          <a:solidFill>
            <a:srgbClr val="0B1437">
              <a:alpha val="80000"/>
            </a:srgbClr>
          </a:solidFill>
          <a:ln w="12700">
            <a:solidFill>
              <a:srgbClr val="3B7FE8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28032" y="2103120"/>
            <a:ext cx="54864" cy="566928"/>
          </a:xfrm>
          <a:prstGeom prst="rect">
            <a:avLst/>
          </a:prstGeom>
          <a:solidFill>
            <a:srgbClr val="3B7FE8"/>
          </a:solidFill>
          <a:ln w="12700">
            <a:solidFill>
              <a:srgbClr val="3B7F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56048" y="215798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Jitter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956048" y="241401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brightness+-0.4, contrast+-0.4  |  p=0.50  — lighting variation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28032" y="2761488"/>
            <a:ext cx="3986784" cy="566928"/>
          </a:xfrm>
          <a:prstGeom prst="rect">
            <a:avLst/>
          </a:prstGeom>
          <a:solidFill>
            <a:srgbClr val="0B1437">
              <a:alpha val="80000"/>
            </a:srgbClr>
          </a:solidFill>
          <a:ln w="12700">
            <a:solidFill>
              <a:srgbClr val="1DCFAA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28032" y="2761488"/>
            <a:ext cx="54864" cy="566928"/>
          </a:xfrm>
          <a:prstGeom prst="rect">
            <a:avLst/>
          </a:prstGeom>
          <a:solidFill>
            <a:srgbClr val="1DCFAA"/>
          </a:solidFill>
          <a:ln w="12700">
            <a:solidFill>
              <a:srgbClr val="1DCFA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56048" y="281635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Rotation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956048" y="307238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+-4 degrees  |  always  — natural pen tilt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828032" y="3419856"/>
            <a:ext cx="3986784" cy="566928"/>
          </a:xfrm>
          <a:prstGeom prst="rect">
            <a:avLst/>
          </a:prstGeom>
          <a:solidFill>
            <a:srgbClr val="0B1437">
              <a:alpha val="8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28032" y="3419856"/>
            <a:ext cx="54864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56048" y="347472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Perspective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956048" y="373075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distortion=0.15  |  p=0.40  — paper warp / scan angle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828032" y="4078224"/>
            <a:ext cx="3986784" cy="566928"/>
          </a:xfrm>
          <a:prstGeom prst="rect">
            <a:avLst/>
          </a:prstGeom>
          <a:solidFill>
            <a:srgbClr val="0B1437">
              <a:alpha val="80000"/>
            </a:srgbClr>
          </a:solidFill>
          <a:ln w="12700">
            <a:solidFill>
              <a:srgbClr val="EC4899">
                <a:alpha val="4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28032" y="4078224"/>
            <a:ext cx="54864" cy="56692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56048" y="413308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Sharpness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4956048" y="438912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factor=2  |  p=0.30  — dry pen on rough paper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828032" y="4754880"/>
            <a:ext cx="3986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increases effective dataset size and prevents overfitting to specific writing styles.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822960"/>
          </a:xfrm>
          <a:prstGeom prst="rect">
            <a:avLst/>
          </a:prstGeom>
          <a:solidFill>
            <a:srgbClr val="112054"/>
          </a:solidFill>
          <a:ln w="12700">
            <a:solidFill>
              <a:srgbClr val="11205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 — CRNN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645920" y="1417320"/>
            <a:ext cx="164592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960120"/>
            <a:ext cx="1298448" cy="914400"/>
          </a:xfrm>
          <a:prstGeom prst="rect">
            <a:avLst/>
          </a:prstGeom>
          <a:solidFill>
            <a:srgbClr val="112054"/>
          </a:solidFill>
          <a:ln w="12700">
            <a:solidFill>
              <a:srgbClr val="11205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7472" y="1014984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" y="1453896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(B,1,32,128)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08960" y="1417320"/>
            <a:ext cx="164592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10512" y="960120"/>
            <a:ext cx="1298448" cy="914400"/>
          </a:xfrm>
          <a:prstGeom prst="rect">
            <a:avLst/>
          </a:prstGeom>
          <a:solidFill>
            <a:srgbClr val="3B7FE8"/>
          </a:solidFill>
          <a:ln w="12700">
            <a:solidFill>
              <a:srgbClr val="3B7F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810512" y="1014984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810512" y="1453896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conv blocks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64→512 channels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0" y="1417320"/>
            <a:ext cx="164592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73552" y="960120"/>
            <a:ext cx="1298448" cy="9144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73552" y="1014984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73552" y="1453896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timestep focus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35040" y="1417320"/>
            <a:ext cx="164592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6592" y="960120"/>
            <a:ext cx="1298448" cy="914400"/>
          </a:xfrm>
          <a:prstGeom prst="rect">
            <a:avLst/>
          </a:prstGeom>
          <a:solidFill>
            <a:srgbClr val="1DCFAA"/>
          </a:solidFill>
          <a:ln w="12700">
            <a:solidFill>
              <a:srgbClr val="1DCF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36592" y="1014984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×2 layers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36592" y="1453896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B143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hidden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B143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fwd + bwd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498080" y="1417320"/>
            <a:ext cx="164592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99632" y="960120"/>
            <a:ext cx="1298448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199632" y="1014984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199632" y="1453896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B143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512→94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B143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 size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662672" y="960120"/>
            <a:ext cx="1298448" cy="91440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662672" y="1014984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CTC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662672" y="1453896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47472" y="2029968"/>
            <a:ext cx="8613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 shape through the network: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47472" y="2340864"/>
            <a:ext cx="1234440" cy="310896"/>
          </a:xfrm>
          <a:prstGeom prst="roundRect">
            <a:avLst>
              <a:gd name="adj" fmla="val 11765"/>
            </a:avLst>
          </a:prstGeom>
          <a:solidFill>
            <a:srgbClr val="112054"/>
          </a:solidFill>
          <a:ln w="12700">
            <a:solidFill>
              <a:srgbClr val="11205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2340864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(B,1,32,128)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600200" y="2340864"/>
            <a:ext cx="274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1892808" y="2340864"/>
            <a:ext cx="1234440" cy="310896"/>
          </a:xfrm>
          <a:prstGeom prst="roundRect">
            <a:avLst>
              <a:gd name="adj" fmla="val 11765"/>
            </a:avLst>
          </a:prstGeom>
          <a:solidFill>
            <a:srgbClr val="3B7FE8"/>
          </a:solidFill>
          <a:ln w="12700">
            <a:solidFill>
              <a:srgbClr val="3B7F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92808" y="2340864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(B,512,1,32)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145536" y="2340864"/>
            <a:ext cx="274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438144" y="2340864"/>
            <a:ext cx="1234440" cy="310896"/>
          </a:xfrm>
          <a:prstGeom prst="roundRect">
            <a:avLst>
              <a:gd name="adj" fmla="val 11765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38144" y="2340864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(32,B,512)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690872" y="2340864"/>
            <a:ext cx="274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4983480" y="2340864"/>
            <a:ext cx="1234440" cy="310896"/>
          </a:xfrm>
          <a:prstGeom prst="roundRect">
            <a:avLst>
              <a:gd name="adj" fmla="val 11765"/>
            </a:avLst>
          </a:prstGeom>
          <a:solidFill>
            <a:srgbClr val="1DCFAA"/>
          </a:solidFill>
          <a:ln w="12700">
            <a:solidFill>
              <a:srgbClr val="1DCFA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83480" y="2340864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(32,B,512)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236208" y="2340864"/>
            <a:ext cx="274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528816" y="2340864"/>
            <a:ext cx="1234440" cy="310896"/>
          </a:xfrm>
          <a:prstGeom prst="roundRect">
            <a:avLst>
              <a:gd name="adj" fmla="val 1176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28816" y="2340864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(32,B,94)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47472" y="28163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Detail (5 blocks):</a:t>
            </a:r>
            <a:endParaRPr lang="en-US" sz="12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3127248"/>
          <a:ext cx="4114800" cy="1755648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Block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0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Filters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0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Pool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0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Output H×W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0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2×2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 × 64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2×2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 × 32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2×1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 × 32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512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2×1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 × 32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512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2×1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 × 32  ← height collapsed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5" name="Text 42"/>
          <p:cNvSpPr/>
          <p:nvPr/>
        </p:nvSpPr>
        <p:spPr>
          <a:xfrm>
            <a:off x="4645152" y="281635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 Detail:</a:t>
            </a:r>
            <a:endParaRPr lang="en-US" sz="1200" dirty="0"/>
          </a:p>
        </p:txBody>
      </p:sp>
      <p:graphicFrame>
        <p:nvGraphicFramePr>
          <p:cNvPr id="46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45152" y="3127248"/>
          <a:ext cx="4297680" cy="1755648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08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Input size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0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512 (CNN feature width)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8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Hidden size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0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256 per direction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08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Directions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0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Forward + Backward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8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Layers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0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 stacked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08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Output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0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256×2 = 512 per timestep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08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Dropout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0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0.3 between layers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08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params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0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~4.75 Million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DCFAA"/>
          </a:solidFill>
          <a:ln w="12700">
            <a:solidFill>
              <a:srgbClr val="1DCF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822960"/>
          </a:xfrm>
          <a:prstGeom prst="rect">
            <a:avLst/>
          </a:prstGeom>
          <a:solidFill>
            <a:srgbClr val="112054"/>
          </a:solidFill>
          <a:ln w="12700">
            <a:solidFill>
              <a:srgbClr val="11205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CTC Loss — Connectionist Temporal Classification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7472" y="93268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C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CTC?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1298448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problem: </a:t>
            </a:r>
            <a:r>
              <a:rPr lang="en-US" sz="115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model outputs 32 predictions (one per column), but each word has only 3–12 characters. How do we train without per-pixel alignment?
</a:t>
            </a:r>
            <a:r>
              <a:rPr lang="en-US" sz="1150" b="1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CTC solves this </a:t>
            </a:r>
            <a:r>
              <a:rPr lang="en-US" sz="115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allowing the model to predict </a:t>
            </a:r>
            <a:r>
              <a:rPr lang="en-US" sz="1150" b="1" dirty="0">
                <a:solidFill>
                  <a:srgbClr val="1DC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tokens (−)</a:t>
            </a:r>
            <a:r>
              <a:rPr lang="en-US" sz="115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repeat characters, then collapsing the sequence.
</a:t>
            </a: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segmentation needed.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47472" y="36118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predicting  'राम'  (3 chars)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7472" y="3931920"/>
            <a:ext cx="347472" cy="457200"/>
          </a:xfrm>
          <a:prstGeom prst="rect">
            <a:avLst/>
          </a:prstGeom>
          <a:solidFill>
            <a:srgbClr val="3B7FE8"/>
          </a:solidFill>
          <a:ln w="12700">
            <a:solidFill>
              <a:srgbClr val="3B7F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3931920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र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49808" y="3931920"/>
            <a:ext cx="347472" cy="457200"/>
          </a:xfrm>
          <a:prstGeom prst="rect">
            <a:avLst/>
          </a:prstGeom>
          <a:solidFill>
            <a:srgbClr val="3B7FE8"/>
          </a:solidFill>
          <a:ln w="12700">
            <a:solidFill>
              <a:srgbClr val="3B7F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3931920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152144" y="3931920"/>
            <a:ext cx="347472" cy="45720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52144" y="3931920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554480" y="3931920"/>
            <a:ext cx="347472" cy="45720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54480" y="3931920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956816" y="3931920"/>
            <a:ext cx="347472" cy="457200"/>
          </a:xfrm>
          <a:prstGeom prst="rect">
            <a:avLst/>
          </a:prstGeom>
          <a:solidFill>
            <a:srgbClr val="1DCFAA"/>
          </a:solidFill>
          <a:ln w="12700">
            <a:solidFill>
              <a:srgbClr val="1DCF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56816" y="3931920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ा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359152" y="3931920"/>
            <a:ext cx="347472" cy="457200"/>
          </a:xfrm>
          <a:prstGeom prst="rect">
            <a:avLst/>
          </a:prstGeom>
          <a:solidFill>
            <a:srgbClr val="1DCFAA"/>
          </a:solidFill>
          <a:ln w="12700">
            <a:solidFill>
              <a:srgbClr val="1DCF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59152" y="3931920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ा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61488" y="3931920"/>
            <a:ext cx="347472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61488" y="3931920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म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163824" y="3931920"/>
            <a:ext cx="347472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63824" y="3931920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म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566160" y="3931920"/>
            <a:ext cx="347472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66160" y="3931920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म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968496" y="3931920"/>
            <a:ext cx="347472" cy="45720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68496" y="3931920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47472" y="4425696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output (32 timesteps shown as 10)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498848" y="4160520"/>
            <a:ext cx="292608" cy="0"/>
          </a:xfrm>
          <a:prstGeom prst="line">
            <a:avLst/>
          </a:prstGeom>
          <a:noFill/>
          <a:ln w="25400">
            <a:solidFill>
              <a:srgbClr val="1DCFA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17136" y="4041648"/>
            <a:ext cx="2560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CFAA"/>
                </a:solidFill>
              </a:rPr>
              <a:t>→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4828032" y="3931920"/>
            <a:ext cx="347472" cy="457200"/>
          </a:xfrm>
          <a:prstGeom prst="rect">
            <a:avLst/>
          </a:prstGeom>
          <a:solidFill>
            <a:srgbClr val="3B7FE8"/>
          </a:solidFill>
          <a:ln w="12700">
            <a:solidFill>
              <a:srgbClr val="3B7F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230368" y="3931920"/>
            <a:ext cx="347472" cy="457200"/>
          </a:xfrm>
          <a:prstGeom prst="rect">
            <a:avLst/>
          </a:prstGeom>
          <a:solidFill>
            <a:srgbClr val="1DCFAA"/>
          </a:solidFill>
          <a:ln w="12700">
            <a:solidFill>
              <a:srgbClr val="1DCFA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632704" y="3931920"/>
            <a:ext cx="347472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28032" y="3931920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र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230368" y="3931920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ा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632704" y="3931920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म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828032" y="4425696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C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Decoded: राम  ✓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45152" y="932688"/>
            <a:ext cx="4315968" cy="2724912"/>
          </a:xfrm>
          <a:prstGeom prst="rect">
            <a:avLst/>
          </a:prstGeom>
          <a:solidFill>
            <a:srgbClr val="112054"/>
          </a:solidFill>
          <a:ln w="12700">
            <a:solidFill>
              <a:srgbClr val="2A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809744" y="1005840"/>
            <a:ext cx="39867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C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Implement CTC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4809744" y="1408176"/>
            <a:ext cx="91440" cy="329184"/>
          </a:xfrm>
          <a:prstGeom prst="rect">
            <a:avLst/>
          </a:prstGeom>
          <a:solidFill>
            <a:srgbClr val="3B7FE8"/>
          </a:solidFill>
          <a:ln w="12700">
            <a:solidFill>
              <a:srgbClr val="3B7F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74336" y="140817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B7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function: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974336" y="1572768"/>
            <a:ext cx="38039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D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nn.CTCLoss(blank=0, reduction='mean',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B9D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zero_infinity=True)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809744" y="1810512"/>
            <a:ext cx="91440" cy="32918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74336" y="181051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token: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974336" y="1975104"/>
            <a:ext cx="38039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D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 0 in vocabulary (reserved)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809744" y="2212848"/>
            <a:ext cx="91440" cy="329184"/>
          </a:xfrm>
          <a:prstGeom prst="rect">
            <a:avLst/>
          </a:prstGeom>
          <a:solidFill>
            <a:srgbClr val="1DCFAA"/>
          </a:solidFill>
          <a:ln w="12700">
            <a:solidFill>
              <a:srgbClr val="1DCFA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74336" y="2212848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DC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format: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974336" y="2377440"/>
            <a:ext cx="38039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D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log_probs: (T=32, B, V=94)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B9D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input_lens: [32,32,...] per sample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809744" y="2615184"/>
            <a:ext cx="91440" cy="3291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74336" y="261518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format: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974336" y="2779776"/>
            <a:ext cx="38039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D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Flat concatenated tensor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B9D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label_lens tells CTC where each ends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809744" y="3017520"/>
            <a:ext cx="91440" cy="32918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74336" y="301752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Decoding: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4974336" y="3182112"/>
            <a:ext cx="38039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D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Greedy: argmax → collapse repeats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B9D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Beam: width=10, pure Python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347472" y="4736592"/>
            <a:ext cx="8613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CTC Loss  =  −log P(y | x)  summed over all valid alignments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822960"/>
          </a:xfrm>
          <a:prstGeom prst="rect">
            <a:avLst/>
          </a:prstGeom>
          <a:solidFill>
            <a:srgbClr val="112054"/>
          </a:solidFill>
          <a:ln w="12700">
            <a:solidFill>
              <a:srgbClr val="11205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Evaluation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47472" y="932688"/>
            <a:ext cx="199339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932688"/>
            <a:ext cx="1993392" cy="73152"/>
          </a:xfrm>
          <a:prstGeom prst="rect">
            <a:avLst/>
          </a:prstGeom>
          <a:solidFill>
            <a:srgbClr val="1DCFAA"/>
          </a:solidFill>
          <a:ln w="12700">
            <a:solidFill>
              <a:srgbClr val="1DCF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024128"/>
            <a:ext cx="19933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DC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11.1%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47472" y="155448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(Greedy)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" y="1920240"/>
            <a:ext cx="19933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23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23744" y="932688"/>
            <a:ext cx="199339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23744" y="932688"/>
            <a:ext cx="199339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23744" y="1024128"/>
            <a:ext cx="19933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38.0%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523744" y="155448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Error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(WER)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23744" y="1920240"/>
            <a:ext cx="19933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decode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00016" y="932688"/>
            <a:ext cx="199339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0016" y="932688"/>
            <a:ext cx="1993392" cy="73152"/>
          </a:xfrm>
          <a:prstGeom prst="rect">
            <a:avLst/>
          </a:prstGeom>
          <a:solidFill>
            <a:srgbClr val="3B7FE8"/>
          </a:solidFill>
          <a:ln w="12700">
            <a:solidFill>
              <a:srgbClr val="3B7F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0016" y="1024128"/>
            <a:ext cx="19933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B7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62.0%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700016" y="155448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Word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00016" y="1920240"/>
            <a:ext cx="19933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7,980 / 12,869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76288" y="932688"/>
            <a:ext cx="199339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76288" y="932688"/>
            <a:ext cx="1993392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76288" y="1024128"/>
            <a:ext cx="19933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~9%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876288" y="155448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 with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Beam Search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76288" y="1920240"/>
            <a:ext cx="19933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 = 10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47472" y="228600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CER per Epoch (greedy decoding)</a:t>
            </a:r>
            <a:endParaRPr lang="en-US" sz="1200" dirty="0"/>
          </a:p>
        </p:txBody>
      </p:sp>
      <p:graphicFrame>
        <p:nvGraphicFramePr>
          <p:cNvPr id="26" name="Chart 0"/>
          <p:cNvGraphicFramePr/>
          <p:nvPr/>
        </p:nvGraphicFramePr>
        <p:xfrm>
          <a:off x="347472" y="2596896"/>
          <a:ext cx="466344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7" name="Text 24"/>
          <p:cNvSpPr/>
          <p:nvPr/>
        </p:nvSpPr>
        <p:spPr>
          <a:xfrm>
            <a:off x="5193792" y="22860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Quality Breakdown (beam search)</a:t>
            </a:r>
            <a:endParaRPr lang="en-US" sz="1200" dirty="0"/>
          </a:p>
        </p:txBody>
      </p:sp>
      <p:graphicFrame>
        <p:nvGraphicFramePr>
          <p:cNvPr id="28" name="Chart 1"/>
          <p:cNvGraphicFramePr/>
          <p:nvPr/>
        </p:nvGraphicFramePr>
        <p:xfrm>
          <a:off x="5193792" y="2596896"/>
          <a:ext cx="374904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DCFAA"/>
          </a:solidFill>
          <a:ln w="12700">
            <a:solidFill>
              <a:srgbClr val="1DCF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822960"/>
          </a:xfrm>
          <a:prstGeom prst="rect">
            <a:avLst/>
          </a:prstGeom>
          <a:solidFill>
            <a:srgbClr val="112054"/>
          </a:solidFill>
          <a:ln w="12700">
            <a:solidFill>
              <a:srgbClr val="11205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47472" y="93268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C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Achieved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47472" y="1371600"/>
            <a:ext cx="201168" cy="201168"/>
          </a:xfrm>
          <a:prstGeom prst="ellipse">
            <a:avLst/>
          </a:prstGeom>
          <a:solidFill>
            <a:srgbClr val="1DCFAA"/>
          </a:solidFill>
          <a:ln w="12700">
            <a:solidFill>
              <a:srgbClr val="1DCF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3502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fully custom OCR pipeline for Devanagari from scratch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" y="1883664"/>
            <a:ext cx="201168" cy="201168"/>
          </a:xfrm>
          <a:prstGeom prst="ellipse">
            <a:avLst/>
          </a:prstGeom>
          <a:solidFill>
            <a:srgbClr val="1DCFAA"/>
          </a:solidFill>
          <a:ln w="12700">
            <a:solidFill>
              <a:srgbClr val="1DCF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84708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11.1% CER on 12,869 test samples — no pre-trained backbone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2395728"/>
            <a:ext cx="201168" cy="201168"/>
          </a:xfrm>
          <a:prstGeom prst="ellipse">
            <a:avLst/>
          </a:prstGeom>
          <a:solidFill>
            <a:srgbClr val="1DCFAA"/>
          </a:solidFill>
          <a:ln w="12700">
            <a:solidFill>
              <a:srgbClr val="1DCF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3591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 exact word match using greedy decoding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" y="2907792"/>
            <a:ext cx="201168" cy="201168"/>
          </a:xfrm>
          <a:prstGeom prst="ellipse">
            <a:avLst/>
          </a:prstGeom>
          <a:solidFill>
            <a:srgbClr val="1DCFAA"/>
          </a:solidFill>
          <a:ln w="12700">
            <a:solidFill>
              <a:srgbClr val="1DCF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87121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Beam search decoding brings CER down to ~9% post-training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7472" y="3419856"/>
            <a:ext cx="201168" cy="201168"/>
          </a:xfrm>
          <a:prstGeom prst="ellipse">
            <a:avLst/>
          </a:prstGeom>
          <a:solidFill>
            <a:srgbClr val="1DCFAA"/>
          </a:solidFill>
          <a:ln w="12700">
            <a:solidFill>
              <a:srgbClr val="1DCF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3832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4.75M parameter model — lightweight and deployable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931920"/>
            <a:ext cx="201168" cy="201168"/>
          </a:xfrm>
          <a:prstGeom prst="ellipse">
            <a:avLst/>
          </a:prstGeom>
          <a:solidFill>
            <a:srgbClr val="1DCFAA"/>
          </a:solidFill>
          <a:ln w="12700">
            <a:solidFill>
              <a:srgbClr val="1DCF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89534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entirely on IIIT-HW-Dev — under 3 hours on RTX 3050 Ti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45152" y="932688"/>
            <a:ext cx="4315968" cy="3493008"/>
          </a:xfrm>
          <a:prstGeom prst="rect">
            <a:avLst/>
          </a:prstGeom>
          <a:solidFill>
            <a:srgbClr val="112054"/>
          </a:solidFill>
          <a:ln w="12700">
            <a:solidFill>
              <a:srgbClr val="2A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09744" y="1005840"/>
            <a:ext cx="39867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C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09744" y="1426464"/>
            <a:ext cx="91440" cy="420624"/>
          </a:xfrm>
          <a:prstGeom prst="rect">
            <a:avLst/>
          </a:prstGeom>
          <a:solidFill>
            <a:srgbClr val="3B7FE8"/>
          </a:solidFill>
          <a:ln w="12700">
            <a:solidFill>
              <a:srgbClr val="3B7F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74336" y="1444752"/>
            <a:ext cx="38221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Backbone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74336" y="1627632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BiLSTM with self-attention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(TrOCR-style) for better long-range context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09744" y="1938528"/>
            <a:ext cx="91440" cy="42062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74336" y="1956816"/>
            <a:ext cx="38221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Lexicon-guided Decoding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74336" y="2139696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 beam search to dictionary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for lower WER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09744" y="2450592"/>
            <a:ext cx="91440" cy="4206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74336" y="2468880"/>
            <a:ext cx="38221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Line-level Recognition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74336" y="2651760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from word-level to full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handwritten line OCR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09744" y="2962656"/>
            <a:ext cx="91440" cy="42062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74336" y="2980944"/>
            <a:ext cx="38221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Synthesis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74336" y="3163824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synthetic Devanagari words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increase training diversity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09744" y="3474720"/>
            <a:ext cx="91440" cy="420624"/>
          </a:xfrm>
          <a:prstGeom prst="rect">
            <a:avLst/>
          </a:prstGeom>
          <a:solidFill>
            <a:srgbClr val="1DCFAA"/>
          </a:solidFill>
          <a:ln w="12700">
            <a:solidFill>
              <a:srgbClr val="1DCFA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74336" y="3493008"/>
            <a:ext cx="38221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Deployment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74336" y="3675888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ONNX / TFLite for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inference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47472" y="4572000"/>
            <a:ext cx="8613648" cy="384048"/>
          </a:xfrm>
          <a:prstGeom prst="rect">
            <a:avLst/>
          </a:prstGeom>
          <a:solidFill>
            <a:srgbClr val="112054"/>
          </a:solidFill>
          <a:ln w="12700">
            <a:solidFill>
              <a:srgbClr val="1DCF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47472" y="4572000"/>
            <a:ext cx="8613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DC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small but dedicated model, trained right, outperforms a generic one trained on everything."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1109</Words>
  <Application>Microsoft Office PowerPoint</Application>
  <PresentationFormat>On-screen Show (16:9)</PresentationFormat>
  <Paragraphs>294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OCR for Handwritten Devanagari Script using Sequence Models</dc:title>
  <dc:subject>PptxGenJS Presentation</dc:subject>
  <dc:creator>PptxGenJS</dc:creator>
  <cp:lastModifiedBy>Devesh Dhurandher</cp:lastModifiedBy>
  <cp:revision>1</cp:revision>
  <dcterms:created xsi:type="dcterms:W3CDTF">2026-04-21T11:55:37Z</dcterms:created>
  <dcterms:modified xsi:type="dcterms:W3CDTF">2026-04-21T12:00:11Z</dcterms:modified>
</cp:coreProperties>
</file>