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D055AF-03CF-410B-BF63-7D30EF559A8B}">
  <a:tblStyle styleId="{F0D055AF-03CF-410B-BF63-7D30EF559A8B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" name="Google Shape;80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" name="Google Shape;184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" name="Google Shape;232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1" name="Google Shape;341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e60a81688d_0_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3" name="Google Shape;373;g3e60a81688d_0_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g3e60a81688d_0_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drive.google.com/drive/folders/1aZMMkcidWnZe-vdzbcZ-4zusa81K4R0C?usp=sharing" TargetMode="External"/><Relationship Id="rId4" Type="http://schemas.openxmlformats.org/officeDocument/2006/relationships/image" Target="../media/image1.png"/><Relationship Id="rId5" Type="http://schemas.openxmlformats.org/officeDocument/2006/relationships/hyperlink" Target="https://github.com/kumar-ayush32/OCR-Devanagari.git" TargetMode="External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Relationship Id="rId6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37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731520" y="2743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3"/>
          <p:cNvSpPr/>
          <p:nvPr/>
        </p:nvSpPr>
        <p:spPr>
          <a:xfrm>
            <a:off x="1828800" y="2743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2926080" y="2743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4023360" y="2743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5120640" y="2743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3"/>
          <p:cNvSpPr/>
          <p:nvPr/>
        </p:nvSpPr>
        <p:spPr>
          <a:xfrm>
            <a:off x="6217920" y="2743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7315200" y="2743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3"/>
          <p:cNvSpPr/>
          <p:nvPr/>
        </p:nvSpPr>
        <p:spPr>
          <a:xfrm>
            <a:off x="8412480" y="2743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731520" y="109728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3"/>
          <p:cNvSpPr/>
          <p:nvPr/>
        </p:nvSpPr>
        <p:spPr>
          <a:xfrm>
            <a:off x="1828800" y="109728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926080" y="109728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4023360" y="109728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3"/>
          <p:cNvSpPr/>
          <p:nvPr/>
        </p:nvSpPr>
        <p:spPr>
          <a:xfrm>
            <a:off x="5120640" y="109728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3"/>
          <p:cNvSpPr/>
          <p:nvPr/>
        </p:nvSpPr>
        <p:spPr>
          <a:xfrm>
            <a:off x="6217920" y="109728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3"/>
          <p:cNvSpPr/>
          <p:nvPr/>
        </p:nvSpPr>
        <p:spPr>
          <a:xfrm>
            <a:off x="7315200" y="109728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3"/>
          <p:cNvSpPr/>
          <p:nvPr/>
        </p:nvSpPr>
        <p:spPr>
          <a:xfrm>
            <a:off x="8412480" y="109728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"/>
          <p:cNvSpPr/>
          <p:nvPr/>
        </p:nvSpPr>
        <p:spPr>
          <a:xfrm>
            <a:off x="731520" y="192024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"/>
          <p:cNvSpPr/>
          <p:nvPr/>
        </p:nvSpPr>
        <p:spPr>
          <a:xfrm>
            <a:off x="1828800" y="192024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3"/>
          <p:cNvSpPr/>
          <p:nvPr/>
        </p:nvSpPr>
        <p:spPr>
          <a:xfrm>
            <a:off x="2926080" y="192024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3"/>
          <p:cNvSpPr/>
          <p:nvPr/>
        </p:nvSpPr>
        <p:spPr>
          <a:xfrm>
            <a:off x="4023360" y="192024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3"/>
          <p:cNvSpPr/>
          <p:nvPr/>
        </p:nvSpPr>
        <p:spPr>
          <a:xfrm>
            <a:off x="5120640" y="192024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3"/>
          <p:cNvSpPr/>
          <p:nvPr/>
        </p:nvSpPr>
        <p:spPr>
          <a:xfrm>
            <a:off x="6217920" y="192024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"/>
          <p:cNvSpPr/>
          <p:nvPr/>
        </p:nvSpPr>
        <p:spPr>
          <a:xfrm>
            <a:off x="7315200" y="192024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3"/>
          <p:cNvSpPr/>
          <p:nvPr/>
        </p:nvSpPr>
        <p:spPr>
          <a:xfrm>
            <a:off x="8412480" y="192024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3"/>
          <p:cNvSpPr/>
          <p:nvPr/>
        </p:nvSpPr>
        <p:spPr>
          <a:xfrm>
            <a:off x="731520" y="274320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3"/>
          <p:cNvSpPr/>
          <p:nvPr/>
        </p:nvSpPr>
        <p:spPr>
          <a:xfrm>
            <a:off x="1828800" y="274320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3"/>
          <p:cNvSpPr/>
          <p:nvPr/>
        </p:nvSpPr>
        <p:spPr>
          <a:xfrm>
            <a:off x="2926080" y="274320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3"/>
          <p:cNvSpPr/>
          <p:nvPr/>
        </p:nvSpPr>
        <p:spPr>
          <a:xfrm>
            <a:off x="4023360" y="274320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3"/>
          <p:cNvSpPr/>
          <p:nvPr/>
        </p:nvSpPr>
        <p:spPr>
          <a:xfrm>
            <a:off x="5120640" y="274320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3"/>
          <p:cNvSpPr/>
          <p:nvPr/>
        </p:nvSpPr>
        <p:spPr>
          <a:xfrm>
            <a:off x="6217920" y="274320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3"/>
          <p:cNvSpPr/>
          <p:nvPr/>
        </p:nvSpPr>
        <p:spPr>
          <a:xfrm>
            <a:off x="7315200" y="274320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"/>
          <p:cNvSpPr/>
          <p:nvPr/>
        </p:nvSpPr>
        <p:spPr>
          <a:xfrm>
            <a:off x="8412480" y="274320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"/>
          <p:cNvSpPr/>
          <p:nvPr/>
        </p:nvSpPr>
        <p:spPr>
          <a:xfrm>
            <a:off x="731520" y="356616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3"/>
          <p:cNvSpPr/>
          <p:nvPr/>
        </p:nvSpPr>
        <p:spPr>
          <a:xfrm>
            <a:off x="1828800" y="356616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3"/>
          <p:cNvSpPr/>
          <p:nvPr/>
        </p:nvSpPr>
        <p:spPr>
          <a:xfrm>
            <a:off x="2926080" y="356616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3"/>
          <p:cNvSpPr/>
          <p:nvPr/>
        </p:nvSpPr>
        <p:spPr>
          <a:xfrm>
            <a:off x="4023360" y="356616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120640" y="356616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"/>
          <p:cNvSpPr/>
          <p:nvPr/>
        </p:nvSpPr>
        <p:spPr>
          <a:xfrm>
            <a:off x="6217920" y="356616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"/>
          <p:cNvSpPr/>
          <p:nvPr/>
        </p:nvSpPr>
        <p:spPr>
          <a:xfrm>
            <a:off x="7315200" y="356616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3"/>
          <p:cNvSpPr/>
          <p:nvPr/>
        </p:nvSpPr>
        <p:spPr>
          <a:xfrm>
            <a:off x="8412480" y="356616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731520" y="43891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"/>
          <p:cNvSpPr/>
          <p:nvPr/>
        </p:nvSpPr>
        <p:spPr>
          <a:xfrm>
            <a:off x="1828800" y="43891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3"/>
          <p:cNvSpPr/>
          <p:nvPr/>
        </p:nvSpPr>
        <p:spPr>
          <a:xfrm>
            <a:off x="2926080" y="43891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4023360" y="43891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3"/>
          <p:cNvSpPr/>
          <p:nvPr/>
        </p:nvSpPr>
        <p:spPr>
          <a:xfrm>
            <a:off x="5120640" y="43891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6217920" y="43891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7315200" y="43891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3"/>
          <p:cNvSpPr/>
          <p:nvPr/>
        </p:nvSpPr>
        <p:spPr>
          <a:xfrm>
            <a:off x="8412480" y="4389120"/>
            <a:ext cx="54864" cy="54864"/>
          </a:xfrm>
          <a:prstGeom prst="ellipse">
            <a:avLst/>
          </a:prstGeom>
          <a:solidFill>
            <a:srgbClr val="FFFFFF">
              <a:alpha val="14901"/>
            </a:srgbClr>
          </a:solidFill>
          <a:ln cap="flat" cmpd="sng" w="12700">
            <a:solidFill>
              <a:srgbClr val="FFFFFF">
                <a:alpha val="14901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3B7FE8">
              <a:alpha val="12156"/>
            </a:srgbClr>
          </a:solidFill>
          <a:ln cap="flat" cmpd="sng" w="12700">
            <a:solidFill>
              <a:srgbClr val="3B7FE8">
                <a:alpha val="1215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6583680" y="-457200"/>
            <a:ext cx="3657600" cy="3657600"/>
          </a:xfrm>
          <a:prstGeom prst="ellipse">
            <a:avLst/>
          </a:prstGeom>
          <a:solidFill>
            <a:srgbClr val="1DCFAA">
              <a:alpha val="7843"/>
            </a:srgbClr>
          </a:solidFill>
          <a:ln cap="flat" cmpd="sng" w="12700">
            <a:solidFill>
              <a:srgbClr val="1DCFAA">
                <a:alpha val="7843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7132320" y="365760"/>
            <a:ext cx="22860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0"/>
              <a:buFont typeface="Calibri"/>
              <a:buNone/>
            </a:pPr>
            <a:r>
              <a:rPr b="1" i="0" lang="en-US" sz="1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अ</a:t>
            </a:r>
            <a:endParaRPr b="0" i="0" sz="1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11480" y="502920"/>
            <a:ext cx="2194560" cy="292608"/>
          </a:xfrm>
          <a:prstGeom prst="roundRect">
            <a:avLst>
              <a:gd fmla="val 12500" name="adj"/>
            </a:avLst>
          </a:prstGeom>
          <a:solidFill>
            <a:srgbClr val="1DCFAA">
              <a:alpha val="80000"/>
            </a:srgbClr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"/>
          <p:cNvSpPr/>
          <p:nvPr/>
        </p:nvSpPr>
        <p:spPr>
          <a:xfrm>
            <a:off x="411517" y="498395"/>
            <a:ext cx="2194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5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DEEP LEARNING · OCR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411480" y="960120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OCR for Handwritten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411480" y="1664208"/>
            <a:ext cx="6583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Devanagari Script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411480" y="2359152"/>
            <a:ext cx="65836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000"/>
              <a:buFont typeface="Calibri"/>
              <a:buNone/>
            </a:pPr>
            <a:r>
              <a:rPr b="0" i="0" lang="en-US" sz="3000" u="none" cap="none" strike="noStrike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using Sequence Models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11480" y="3127248"/>
            <a:ext cx="2560320" cy="36576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11480" y="3310128"/>
            <a:ext cx="6400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CNN  →  Bidirectional LSTM  →  CTC Loss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11480" y="3703320"/>
            <a:ext cx="6400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IIIT-HW-Dev Dataset  ·  9</a:t>
            </a: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r>
              <a:rPr b="0" i="0" lang="en-US" sz="1100" u="none" cap="none" strike="noStrike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 Character Vocabulary  · NVIDIA RTX 3050 Ti</a:t>
            </a: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 / NVIDIA QUADRO T2000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7223760" y="4023360"/>
            <a:ext cx="1691640" cy="822960"/>
          </a:xfrm>
          <a:prstGeom prst="roundRect">
            <a:avLst>
              <a:gd fmla="val 8889" name="adj"/>
            </a:avLst>
          </a:prstGeom>
          <a:solidFill>
            <a:srgbClr val="112054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7223760" y="4059936"/>
            <a:ext cx="1691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11.1%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7223760" y="4425696"/>
            <a:ext cx="1691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Best CER Achieved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20572" y="4050800"/>
            <a:ext cx="38955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000"/>
              <a:buFont typeface="Calibri"/>
              <a:buNone/>
            </a:pPr>
            <a:r>
              <a:rPr lang="en-US" sz="20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Kumar Ayush (BT23ECE032)</a:t>
            </a:r>
            <a:endParaRPr sz="2000">
              <a:solidFill>
                <a:srgbClr val="E8EDF8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3000"/>
              <a:buFont typeface="Calibri"/>
              <a:buNone/>
            </a:pPr>
            <a:r>
              <a:rPr lang="en-US" sz="20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Devesh Dhurandher (BT23ECE040)</a:t>
            </a:r>
            <a:endParaRPr sz="2000">
              <a:solidFill>
                <a:srgbClr val="E8EDF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3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641075" y="-12"/>
            <a:ext cx="502925" cy="47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3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115989" y="0"/>
            <a:ext cx="525086" cy="478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4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437"/>
          </a:solidFill>
          <a:ln cap="flat" cmpd="sng" w="12700">
            <a:solidFill>
              <a:srgbClr val="0B1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Motivation &amp; Problem Statement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47472" y="960120"/>
            <a:ext cx="274320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347472" y="960120"/>
            <a:ext cx="2743200" cy="73152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4"/>
          <p:cNvSpPr/>
          <p:nvPr/>
        </p:nvSpPr>
        <p:spPr>
          <a:xfrm>
            <a:off x="512064" y="1078992"/>
            <a:ext cx="24140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600M+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Devanagari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Speakers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12064" y="2029968"/>
            <a:ext cx="2414016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Hindi, Sanskrit, Marathi,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Nepali — all use this script.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Massive undigitized document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corpus with no OCR solution.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3273552" y="960120"/>
            <a:ext cx="274320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3273552" y="960120"/>
            <a:ext cx="2743200" cy="73152"/>
          </a:xfrm>
          <a:prstGeom prst="rect">
            <a:avLst/>
          </a:prstGeom>
          <a:solidFill>
            <a:srgbClr val="E05252"/>
          </a:solidFill>
          <a:ln cap="flat" cmpd="sng" w="12700">
            <a:solidFill>
              <a:srgbClr val="E0525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438144" y="1078992"/>
            <a:ext cx="24140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Existing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Solutions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Fall Short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438144" y="2029968"/>
            <a:ext cx="2414016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Google Vision &amp; Tesseract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are not script-specific.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High error rates 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cursive handwriting.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6199632" y="960120"/>
            <a:ext cx="2743200" cy="34747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6199632" y="960120"/>
            <a:ext cx="2743200" cy="73152"/>
          </a:xfrm>
          <a:prstGeom prst="rect">
            <a:avLst/>
          </a:prstGeom>
          <a:solidFill>
            <a:srgbClr val="E09A20"/>
          </a:solidFill>
          <a:ln cap="flat" cmpd="sng" w="12700">
            <a:solidFill>
              <a:srgbClr val="E09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364224" y="1078992"/>
            <a:ext cx="2414016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Cost &amp;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Accessibility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700"/>
              <a:buFont typeface="Calibri"/>
              <a:buNone/>
            </a:pPr>
            <a:r>
              <a:rPr b="1" lang="en-US" sz="17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Barrier</a:t>
            </a:r>
            <a:endParaRPr sz="1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364224" y="2029968"/>
            <a:ext cx="2414016" cy="21945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Cloud APIs (Google, AWS)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charge per API call.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Not viable for academic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or low-resource settings.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47472" y="4572000"/>
            <a:ext cx="8613648" cy="411480"/>
          </a:xfrm>
          <a:prstGeom prst="rect">
            <a:avLst/>
          </a:prstGeom>
          <a:solidFill>
            <a:srgbClr val="0B1437"/>
          </a:solidFill>
          <a:ln cap="flat" cmpd="sng" w="12700">
            <a:solidFill>
              <a:srgbClr val="0B143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47472" y="4572000"/>
            <a:ext cx="8613648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Our Solution:  A dedicated CNN + BiLSTM + CTC model trained exclusively on Devanagari handwriting — free, open, and accurate.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37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Workflow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8" name="Google Shape;108;p5"/>
          <p:cNvCxnSpPr/>
          <p:nvPr/>
        </p:nvCxnSpPr>
        <p:spPr>
          <a:xfrm>
            <a:off x="1920240" y="2642616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8B9D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9" name="Google Shape;109;p5"/>
          <p:cNvSpPr/>
          <p:nvPr/>
        </p:nvSpPr>
        <p:spPr>
          <a:xfrm>
            <a:off x="347472" y="1005840"/>
            <a:ext cx="1572768" cy="329184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347472" y="1005840"/>
            <a:ext cx="1572768" cy="54864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5"/>
          <p:cNvSpPr/>
          <p:nvPr/>
        </p:nvSpPr>
        <p:spPr>
          <a:xfrm>
            <a:off x="877824" y="1143000"/>
            <a:ext cx="512064" cy="512064"/>
          </a:xfrm>
          <a:prstGeom prst="ellipse">
            <a:avLst/>
          </a:prstGeom>
          <a:solidFill>
            <a:srgbClr val="3B7FE8">
              <a:alpha val="80000"/>
            </a:srgbClr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877824" y="1143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38912" y="1755648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Acquisition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76072" y="2468880"/>
            <a:ext cx="1115568" cy="27432"/>
          </a:xfrm>
          <a:prstGeom prst="rect">
            <a:avLst/>
          </a:prstGeom>
          <a:solidFill>
            <a:srgbClr val="3B7FE8">
              <a:alpha val="60000"/>
            </a:srgbClr>
          </a:solidFill>
          <a:ln cap="flat" cmpd="sng" w="12700">
            <a:solidFill>
              <a:srgbClr val="3B7FE8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438912" y="2578608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IIIT-HW-Dev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95K word images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Devanagari script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" name="Google Shape;116;p5"/>
          <p:cNvCxnSpPr/>
          <p:nvPr/>
        </p:nvCxnSpPr>
        <p:spPr>
          <a:xfrm>
            <a:off x="3602736" y="2642616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8B9D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7" name="Google Shape;117;p5"/>
          <p:cNvSpPr/>
          <p:nvPr/>
        </p:nvSpPr>
        <p:spPr>
          <a:xfrm>
            <a:off x="2029968" y="1005840"/>
            <a:ext cx="1572768" cy="329184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2029968" y="1005840"/>
            <a:ext cx="1572768" cy="5486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/>
          <p:nvPr/>
        </p:nvSpPr>
        <p:spPr>
          <a:xfrm>
            <a:off x="2560320" y="1143000"/>
            <a:ext cx="512064" cy="512064"/>
          </a:xfrm>
          <a:prstGeom prst="ellipse">
            <a:avLst/>
          </a:prstGeom>
          <a:solidFill>
            <a:srgbClr val="8B5CF6">
              <a:alpha val="80000"/>
            </a:srgbClr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2560320" y="1143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121408" y="1755648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Augmentation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258568" y="2468880"/>
            <a:ext cx="1115568" cy="27432"/>
          </a:xfrm>
          <a:prstGeom prst="rect">
            <a:avLst/>
          </a:prstGeom>
          <a:solidFill>
            <a:srgbClr val="8B5CF6">
              <a:alpha val="60000"/>
            </a:srgbClr>
          </a:solidFill>
          <a:ln cap="flat" cmpd="sng" w="12700">
            <a:solidFill>
              <a:srgbClr val="8B5CF6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2121408" y="2578608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Grayscale, resize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Blur, jitter, warp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Rotate, sharpen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4" name="Google Shape;124;p5"/>
          <p:cNvCxnSpPr/>
          <p:nvPr/>
        </p:nvCxnSpPr>
        <p:spPr>
          <a:xfrm>
            <a:off x="5285232" y="2642616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8B9D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" name="Google Shape;125;p5"/>
          <p:cNvSpPr/>
          <p:nvPr/>
        </p:nvSpPr>
        <p:spPr>
          <a:xfrm>
            <a:off x="3712464" y="1005840"/>
            <a:ext cx="1572768" cy="329184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3712464" y="1005840"/>
            <a:ext cx="1572768" cy="54864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"/>
          <p:cNvSpPr/>
          <p:nvPr/>
        </p:nvSpPr>
        <p:spPr>
          <a:xfrm>
            <a:off x="4242816" y="1143000"/>
            <a:ext cx="512064" cy="512064"/>
          </a:xfrm>
          <a:prstGeom prst="ellipse">
            <a:avLst/>
          </a:prstGeom>
          <a:solidFill>
            <a:srgbClr val="EC4899">
              <a:alpha val="80000"/>
            </a:srgbClr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"/>
          <p:cNvSpPr/>
          <p:nvPr/>
        </p:nvSpPr>
        <p:spPr>
          <a:xfrm>
            <a:off x="4242816" y="1143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3803904" y="1755648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Vocabulary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Building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3941064" y="2468880"/>
            <a:ext cx="1115568" cy="27432"/>
          </a:xfrm>
          <a:prstGeom prst="rect">
            <a:avLst/>
          </a:prstGeom>
          <a:solidFill>
            <a:srgbClr val="EC4899">
              <a:alpha val="60000"/>
            </a:srgbClr>
          </a:solidFill>
          <a:ln cap="flat" cmpd="sng" w="12700">
            <a:solidFill>
              <a:srgbClr val="EC4899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3803904" y="2578608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94 characters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Blank token CTC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Encode / decode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2" name="Google Shape;132;p5"/>
          <p:cNvCxnSpPr/>
          <p:nvPr/>
        </p:nvCxnSpPr>
        <p:spPr>
          <a:xfrm>
            <a:off x="6967728" y="2642616"/>
            <a:ext cx="109728" cy="0"/>
          </a:xfrm>
          <a:prstGeom prst="straightConnector1">
            <a:avLst/>
          </a:prstGeom>
          <a:noFill/>
          <a:ln cap="flat" cmpd="sng" w="19050">
            <a:solidFill>
              <a:srgbClr val="8B9D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" name="Google Shape;133;p5"/>
          <p:cNvSpPr/>
          <p:nvPr/>
        </p:nvSpPr>
        <p:spPr>
          <a:xfrm>
            <a:off x="5394960" y="1005840"/>
            <a:ext cx="1572768" cy="329184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"/>
          <p:cNvSpPr/>
          <p:nvPr/>
        </p:nvSpPr>
        <p:spPr>
          <a:xfrm>
            <a:off x="5394960" y="1005840"/>
            <a:ext cx="1572768" cy="5486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5925312" y="1143000"/>
            <a:ext cx="512064" cy="512064"/>
          </a:xfrm>
          <a:prstGeom prst="ellipse">
            <a:avLst/>
          </a:prstGeom>
          <a:solidFill>
            <a:srgbClr val="F59E0B">
              <a:alpha val="80000"/>
            </a:srgbClr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"/>
          <p:cNvSpPr/>
          <p:nvPr/>
        </p:nvSpPr>
        <p:spPr>
          <a:xfrm>
            <a:off x="5925312" y="1143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486400" y="1755648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623560" y="2468880"/>
            <a:ext cx="1115568" cy="27432"/>
          </a:xfrm>
          <a:prstGeom prst="rect">
            <a:avLst/>
          </a:prstGeom>
          <a:solidFill>
            <a:srgbClr val="F59E0B">
              <a:alpha val="60000"/>
            </a:srgbClr>
          </a:solidFill>
          <a:ln cap="flat" cmpd="sng" w="12700">
            <a:solidFill>
              <a:srgbClr val="F59E0B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5486400" y="2578608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CNN + BiLSTM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CTC Loss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50 epochs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7077456" y="1005840"/>
            <a:ext cx="1572768" cy="329184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7077456" y="1005840"/>
            <a:ext cx="1572768" cy="54864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5"/>
          <p:cNvSpPr/>
          <p:nvPr/>
        </p:nvSpPr>
        <p:spPr>
          <a:xfrm>
            <a:off x="7607808" y="1143000"/>
            <a:ext cx="512064" cy="512064"/>
          </a:xfrm>
          <a:prstGeom prst="ellipse">
            <a:avLst/>
          </a:prstGeom>
          <a:solidFill>
            <a:srgbClr val="1DCFAA">
              <a:alpha val="80000"/>
            </a:srgbClr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7607808" y="1143000"/>
            <a:ext cx="512064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7168896" y="1755648"/>
            <a:ext cx="138988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&amp; Inference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7306056" y="2468880"/>
            <a:ext cx="1115568" cy="27432"/>
          </a:xfrm>
          <a:prstGeom prst="rect">
            <a:avLst/>
          </a:prstGeom>
          <a:solidFill>
            <a:srgbClr val="1DCFAA">
              <a:alpha val="60000"/>
            </a:srgbClr>
          </a:solidFill>
          <a:ln cap="flat" cmpd="sng" w="12700">
            <a:solidFill>
              <a:srgbClr val="1DCFAA">
                <a:alpha val="6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7168896" y="2578608"/>
            <a:ext cx="1389888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CER / WER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Beam search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Plots &amp; 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347472" y="4517136"/>
            <a:ext cx="8613648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Each stage feeds directly into the next — the output of one step is the input of the next.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437"/>
          </a:solidFill>
          <a:ln cap="flat" cmpd="sng" w="12700">
            <a:solidFill>
              <a:srgbClr val="0B1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Dataset — IIIT-HW-Dev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347472" y="932688"/>
            <a:ext cx="1993392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347472" y="932688"/>
            <a:ext cx="1993392" cy="64008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347472" y="1005840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7FE8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3B7FE8"/>
                </a:solidFill>
                <a:latin typeface="Calibri"/>
                <a:ea typeface="Calibri"/>
                <a:cs typeface="Calibri"/>
                <a:sym typeface="Calibri"/>
              </a:rPr>
              <a:t>95K+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347472" y="1508760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Word Images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523744" y="932688"/>
            <a:ext cx="1993392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2523744" y="932688"/>
            <a:ext cx="1993392" cy="6400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2523744" y="1005840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523744" y="1508760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Splits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(Train / Val / Test)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4700016" y="932688"/>
            <a:ext cx="1993392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4700016" y="932688"/>
            <a:ext cx="1993392" cy="64008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4700016" y="1005840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69,853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4700016" y="1508760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6876288" y="932688"/>
            <a:ext cx="1993392" cy="1115568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6"/>
          <p:cNvSpPr/>
          <p:nvPr/>
        </p:nvSpPr>
        <p:spPr>
          <a:xfrm>
            <a:off x="6876288" y="932688"/>
            <a:ext cx="1993392" cy="6400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6"/>
          <p:cNvSpPr/>
          <p:nvPr/>
        </p:nvSpPr>
        <p:spPr>
          <a:xfrm>
            <a:off x="6876288" y="1005840"/>
            <a:ext cx="199339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12,869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6876288" y="1508760"/>
            <a:ext cx="199339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Samples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347472" y="2304360"/>
            <a:ext cx="4041600" cy="269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6"/>
          <p:cNvSpPr/>
          <p:nvPr/>
        </p:nvSpPr>
        <p:spPr>
          <a:xfrm>
            <a:off x="502920" y="2304288"/>
            <a:ext cx="3749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File Structure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502920" y="2670048"/>
            <a:ext cx="3749040" cy="2103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IIIT-HW-Hindi_v1/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  HindiSeg/  ← word images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    HindiSeg/train/   (sub-folders)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    HindiSeg/test/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    HindiSeg/val/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  train.txt  ← 3.1 MB  annotations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  test.txt   ← 565 KB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  val.txt    ← 551 KB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2D3748"/>
              </a:buClr>
              <a:buSzPts val="950"/>
              <a:buFont typeface="Consolas"/>
              <a:buNone/>
            </a:pPr>
            <a:r>
              <a:rPr lang="en-US" sz="950">
                <a:solidFill>
                  <a:srgbClr val="2D3748"/>
                </a:solidFill>
                <a:latin typeface="Consolas"/>
                <a:ea typeface="Consolas"/>
                <a:cs typeface="Consolas"/>
                <a:sym typeface="Consolas"/>
              </a:rPr>
              <a:t>  lexicon.txt / hindi_vocab.txt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4572000" y="2304298"/>
            <a:ext cx="4389000" cy="269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"/>
          <p:cNvSpPr/>
          <p:nvPr/>
        </p:nvSpPr>
        <p:spPr>
          <a:xfrm>
            <a:off x="4736592" y="2304288"/>
            <a:ext cx="4023300" cy="32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Annotation Format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4736592" y="2670048"/>
            <a:ext cx="4059936" cy="384048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4736592" y="2670048"/>
            <a:ext cx="40599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000"/>
              <a:buFont typeface="Consolas"/>
              <a:buNone/>
            </a:pPr>
            <a:r>
              <a:rPr lang="en-US" sz="1000">
                <a:solidFill>
                  <a:srgbClr val="1DCFAA"/>
                </a:solidFill>
                <a:latin typeface="Consolas"/>
                <a:ea typeface="Consolas"/>
                <a:cs typeface="Consolas"/>
                <a:sym typeface="Consolas"/>
              </a:rPr>
              <a:t>HindiSeg/train/1/234/7.jpg   दवाओं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736592" y="3127248"/>
            <a:ext cx="4059936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Each line:  &lt;relative image path&gt;  &lt;space&gt;  &lt;Devanagari word&gt;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Labels are UTF-8 encoded Unicode Devanagari strings.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Images are JPEG, grayscale, variable width.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718304" y="3765374"/>
            <a:ext cx="405993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Split breakdown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1" name="Google Shape;181;p6"/>
          <p:cNvGraphicFramePr/>
          <p:nvPr/>
        </p:nvGraphicFramePr>
        <p:xfrm>
          <a:off x="4754882" y="39663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{F0D055AF-03CF-410B-BF63-7D30EF559A8B}</a:tableStyleId>
              </a:tblPr>
              <a:tblGrid>
                <a:gridCol w="1645925"/>
                <a:gridCol w="1280150"/>
                <a:gridCol w="1133850"/>
              </a:tblGrid>
              <a:tr h="17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Split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Samples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File size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</a:tr>
              <a:tr h="17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Train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69,853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3.1 MB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12,708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551 KB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74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Test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12,869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565 KB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37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7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Preprocessing &amp; Augmentation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>
            <a:off x="347472" y="93268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Preprocessing Pipeline  (all splits)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>
            <a:off x="347472" y="1426464"/>
            <a:ext cx="402336" cy="402336"/>
          </a:xfrm>
          <a:prstGeom prst="ellipse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7"/>
          <p:cNvSpPr/>
          <p:nvPr/>
        </p:nvSpPr>
        <p:spPr>
          <a:xfrm>
            <a:off x="347472" y="1426464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41248" y="1353312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Grayscale Conversion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841248" y="1627632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RGB → single channel L  (PIL .convert('L'))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/>
          <p:nvPr/>
        </p:nvSpPr>
        <p:spPr>
          <a:xfrm>
            <a:off x="347472" y="2267712"/>
            <a:ext cx="402336" cy="402336"/>
          </a:xfrm>
          <a:prstGeom prst="ellipse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7"/>
          <p:cNvSpPr/>
          <p:nvPr/>
        </p:nvSpPr>
        <p:spPr>
          <a:xfrm>
            <a:off x="347472" y="2267712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841248" y="219456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Resize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41248" y="246888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Fixed 32 × 128 px  (H × W)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Preserves aspect ratio of character strokes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47472" y="3108960"/>
            <a:ext cx="402336" cy="402336"/>
          </a:xfrm>
          <a:prstGeom prst="ellipse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7"/>
          <p:cNvSpPr/>
          <p:nvPr/>
        </p:nvSpPr>
        <p:spPr>
          <a:xfrm>
            <a:off x="347472" y="3108960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7"/>
          <p:cNvSpPr/>
          <p:nvPr/>
        </p:nvSpPr>
        <p:spPr>
          <a:xfrm>
            <a:off x="841248" y="3035808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ToTensor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7"/>
          <p:cNvSpPr/>
          <p:nvPr/>
        </p:nvSpPr>
        <p:spPr>
          <a:xfrm>
            <a:off x="841248" y="3310128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PIL Image → FloatTensor [0,1]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7"/>
          <p:cNvSpPr/>
          <p:nvPr/>
        </p:nvSpPr>
        <p:spPr>
          <a:xfrm>
            <a:off x="347472" y="3950208"/>
            <a:ext cx="402336" cy="402336"/>
          </a:xfrm>
          <a:prstGeom prst="ellipse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7"/>
          <p:cNvSpPr/>
          <p:nvPr/>
        </p:nvSpPr>
        <p:spPr>
          <a:xfrm>
            <a:off x="347472" y="3950208"/>
            <a:ext cx="402336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7"/>
          <p:cNvSpPr/>
          <p:nvPr/>
        </p:nvSpPr>
        <p:spPr>
          <a:xfrm>
            <a:off x="841248" y="3877056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Normalize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841248" y="4151376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mean=0.5, std=0.5  →  values in [−1, +1]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4663440" y="914400"/>
            <a:ext cx="4315968" cy="397764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2A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4828032" y="987552"/>
            <a:ext cx="3986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Augmentation  (train split only)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4828032" y="1444752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cap="flat" cmpd="sng" w="12700">
            <a:solidFill>
              <a:srgbClr val="8B5CF6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4828032" y="1444752"/>
            <a:ext cx="54864" cy="566928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956048" y="1499616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Gaussian Blur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956048" y="1755648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kernel=3  |  p=0.30  — simulates ink blur / out-of-focus scan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4828032" y="2103120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cap="flat" cmpd="sng" w="12700">
            <a:solidFill>
              <a:srgbClr val="3B7FE8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4828032" y="2103120"/>
            <a:ext cx="54864" cy="566928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7"/>
          <p:cNvSpPr/>
          <p:nvPr/>
        </p:nvSpPr>
        <p:spPr>
          <a:xfrm>
            <a:off x="4956048" y="2157984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Color Jitter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4956048" y="2414016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brightness+-0.4, contrast+-0.4  |  p=0.50  — lighting variation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4828032" y="2761488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cap="flat" cmpd="sng" w="12700">
            <a:solidFill>
              <a:srgbClr val="1DCFAA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7"/>
          <p:cNvSpPr/>
          <p:nvPr/>
        </p:nvSpPr>
        <p:spPr>
          <a:xfrm>
            <a:off x="4828032" y="2761488"/>
            <a:ext cx="54864" cy="566928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7"/>
          <p:cNvSpPr/>
          <p:nvPr/>
        </p:nvSpPr>
        <p:spPr>
          <a:xfrm>
            <a:off x="4956048" y="2816352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Rotation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4956048" y="3072384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+-4 degrees  |  always  — natural pen tilt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4828032" y="3419856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cap="flat" cmpd="sng" w="12700">
            <a:solidFill>
              <a:srgbClr val="F59E0B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7"/>
          <p:cNvSpPr/>
          <p:nvPr/>
        </p:nvSpPr>
        <p:spPr>
          <a:xfrm>
            <a:off x="4828032" y="3419856"/>
            <a:ext cx="54864" cy="566928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956048" y="3474720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Random Perspective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956048" y="373075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distortion=0.15  |  p=0.40  — paper warp / scan angle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4828032" y="4078224"/>
            <a:ext cx="3986784" cy="566928"/>
          </a:xfrm>
          <a:prstGeom prst="rect">
            <a:avLst/>
          </a:prstGeom>
          <a:solidFill>
            <a:srgbClr val="0B1437">
              <a:alpha val="80000"/>
            </a:srgbClr>
          </a:solidFill>
          <a:ln cap="flat" cmpd="sng" w="12700">
            <a:solidFill>
              <a:srgbClr val="EC4899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7"/>
          <p:cNvSpPr/>
          <p:nvPr/>
        </p:nvSpPr>
        <p:spPr>
          <a:xfrm>
            <a:off x="4828032" y="4078224"/>
            <a:ext cx="54864" cy="566928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7"/>
          <p:cNvSpPr/>
          <p:nvPr/>
        </p:nvSpPr>
        <p:spPr>
          <a:xfrm>
            <a:off x="4956048" y="4133088"/>
            <a:ext cx="3749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Adjust Sharpness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4956048" y="4389120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factor=2  |  p=0.30  — dry pen on rough paper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4828032" y="4754880"/>
            <a:ext cx="3986784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i="1"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Augmentation increases effective dataset size and prevents overfitting to specific writing styles.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8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437"/>
          </a:solidFill>
          <a:ln cap="flat" cmpd="sng" w="12700">
            <a:solidFill>
              <a:srgbClr val="0B1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8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8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Model Architecture — CRNN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" name="Google Shape;238;p8"/>
          <p:cNvCxnSpPr/>
          <p:nvPr/>
        </p:nvCxnSpPr>
        <p:spPr>
          <a:xfrm>
            <a:off x="1645920" y="14173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9" name="Google Shape;239;p8"/>
          <p:cNvSpPr/>
          <p:nvPr/>
        </p:nvSpPr>
        <p:spPr>
          <a:xfrm>
            <a:off x="347472" y="960120"/>
            <a:ext cx="1298448" cy="91440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8"/>
          <p:cNvSpPr/>
          <p:nvPr/>
        </p:nvSpPr>
        <p:spPr>
          <a:xfrm>
            <a:off x="347472" y="101498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Image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8"/>
          <p:cNvSpPr/>
          <p:nvPr/>
        </p:nvSpPr>
        <p:spPr>
          <a:xfrm>
            <a:off x="347472" y="1453896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(B,1,32,128)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2" name="Google Shape;242;p8"/>
          <p:cNvCxnSpPr/>
          <p:nvPr/>
        </p:nvCxnSpPr>
        <p:spPr>
          <a:xfrm>
            <a:off x="3108960" y="14173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3" name="Google Shape;243;p8"/>
          <p:cNvSpPr/>
          <p:nvPr/>
        </p:nvSpPr>
        <p:spPr>
          <a:xfrm>
            <a:off x="1810512" y="960120"/>
            <a:ext cx="1298448" cy="914400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8"/>
          <p:cNvSpPr/>
          <p:nvPr/>
        </p:nvSpPr>
        <p:spPr>
          <a:xfrm>
            <a:off x="1810512" y="101498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CNN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Backbone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8"/>
          <p:cNvSpPr/>
          <p:nvPr/>
        </p:nvSpPr>
        <p:spPr>
          <a:xfrm>
            <a:off x="1810512" y="1453896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conv blocks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64→512 channels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6" name="Google Shape;246;p8"/>
          <p:cNvCxnSpPr/>
          <p:nvPr/>
        </p:nvCxnSpPr>
        <p:spPr>
          <a:xfrm>
            <a:off x="4572000" y="14173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7" name="Google Shape;247;p8"/>
          <p:cNvSpPr/>
          <p:nvPr/>
        </p:nvSpPr>
        <p:spPr>
          <a:xfrm>
            <a:off x="3273552" y="960120"/>
            <a:ext cx="1298448" cy="914400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3273552" y="101498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Column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Attention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8"/>
          <p:cNvSpPr/>
          <p:nvPr/>
        </p:nvSpPr>
        <p:spPr>
          <a:xfrm>
            <a:off x="3273552" y="1453896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Weighted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timestep focus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0" name="Google Shape;250;p8"/>
          <p:cNvCxnSpPr/>
          <p:nvPr/>
        </p:nvCxnSpPr>
        <p:spPr>
          <a:xfrm>
            <a:off x="6035040" y="14173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1" name="Google Shape;251;p8"/>
          <p:cNvSpPr/>
          <p:nvPr/>
        </p:nvSpPr>
        <p:spPr>
          <a:xfrm>
            <a:off x="4736592" y="960120"/>
            <a:ext cx="1298448" cy="914400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4736592" y="101498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BiLSTM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×2 layers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4736592" y="1453896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256 hidden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fwd + bwd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4" name="Google Shape;254;p8"/>
          <p:cNvCxnSpPr/>
          <p:nvPr/>
        </p:nvCxnSpPr>
        <p:spPr>
          <a:xfrm>
            <a:off x="7498080" y="1417320"/>
            <a:ext cx="164592" cy="0"/>
          </a:xfrm>
          <a:prstGeom prst="straightConnector1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5" name="Google Shape;255;p8"/>
          <p:cNvSpPr/>
          <p:nvPr/>
        </p:nvSpPr>
        <p:spPr>
          <a:xfrm>
            <a:off x="6199632" y="960120"/>
            <a:ext cx="1298448" cy="9144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8"/>
          <p:cNvSpPr/>
          <p:nvPr/>
        </p:nvSpPr>
        <p:spPr>
          <a:xfrm>
            <a:off x="6199632" y="101498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Linear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6199632" y="1453896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512→97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vocab size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8"/>
          <p:cNvSpPr/>
          <p:nvPr/>
        </p:nvSpPr>
        <p:spPr>
          <a:xfrm>
            <a:off x="7662672" y="960120"/>
            <a:ext cx="1298448" cy="914400"/>
          </a:xfrm>
          <a:prstGeom prst="rect">
            <a:avLst/>
          </a:prstGeom>
          <a:solidFill>
            <a:srgbClr val="E05252"/>
          </a:solidFill>
          <a:ln cap="flat" cmpd="sng" w="12700">
            <a:solidFill>
              <a:srgbClr val="E0525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7662672" y="1014984"/>
            <a:ext cx="1298448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CTC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Loss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7662672" y="1453896"/>
            <a:ext cx="12984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Training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alignment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8"/>
          <p:cNvSpPr/>
          <p:nvPr/>
        </p:nvSpPr>
        <p:spPr>
          <a:xfrm>
            <a:off x="347472" y="2029968"/>
            <a:ext cx="8613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Tensor shape through the network: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347472" y="2340864"/>
            <a:ext cx="1234440" cy="310896"/>
          </a:xfrm>
          <a:prstGeom prst="roundRect">
            <a:avLst>
              <a:gd fmla="val 11765" name="adj"/>
            </a:avLst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347472" y="234086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(B,1,32,128)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1600200" y="2340864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8"/>
          <p:cNvSpPr/>
          <p:nvPr/>
        </p:nvSpPr>
        <p:spPr>
          <a:xfrm>
            <a:off x="1892808" y="2340864"/>
            <a:ext cx="1234440" cy="310896"/>
          </a:xfrm>
          <a:prstGeom prst="roundRect">
            <a:avLst>
              <a:gd fmla="val 11765" name="adj"/>
            </a:avLst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8"/>
          <p:cNvSpPr/>
          <p:nvPr/>
        </p:nvSpPr>
        <p:spPr>
          <a:xfrm>
            <a:off x="1892808" y="234086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(B,512,1,32)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8"/>
          <p:cNvSpPr/>
          <p:nvPr/>
        </p:nvSpPr>
        <p:spPr>
          <a:xfrm>
            <a:off x="3145536" y="2340864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3438144" y="2340864"/>
            <a:ext cx="1234440" cy="310896"/>
          </a:xfrm>
          <a:prstGeom prst="roundRect">
            <a:avLst>
              <a:gd fmla="val 11765" name="adj"/>
            </a:avLst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3438144" y="234086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(32,B,512)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4690872" y="2340864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4983480" y="2340864"/>
            <a:ext cx="1234440" cy="310896"/>
          </a:xfrm>
          <a:prstGeom prst="roundRect">
            <a:avLst>
              <a:gd fmla="val 11765" name="adj"/>
            </a:avLst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4983480" y="234086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(32,B,512)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6236208" y="2340864"/>
            <a:ext cx="27432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6528816" y="2340864"/>
            <a:ext cx="1234440" cy="310896"/>
          </a:xfrm>
          <a:prstGeom prst="roundRect">
            <a:avLst>
              <a:gd fmla="val 11765" name="adj"/>
            </a:avLst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8"/>
          <p:cNvSpPr/>
          <p:nvPr/>
        </p:nvSpPr>
        <p:spPr>
          <a:xfrm>
            <a:off x="6528816" y="2340864"/>
            <a:ext cx="12344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onsolas"/>
              <a:buNone/>
            </a:pPr>
            <a:r>
              <a:rPr b="1" lang="en-US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(32,B,97)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347472" y="28163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CNN Detail (5 blocks):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7" name="Google Shape;277;p8"/>
          <p:cNvGraphicFramePr/>
          <p:nvPr/>
        </p:nvGraphicFramePr>
        <p:xfrm>
          <a:off x="347472" y="3127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{F0D055AF-03CF-410B-BF63-7D30EF559A8B}</a:tableStyleId>
              </a:tblPr>
              <a:tblGrid>
                <a:gridCol w="640075"/>
                <a:gridCol w="731525"/>
                <a:gridCol w="731525"/>
                <a:gridCol w="2011675"/>
              </a:tblGrid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Block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Filters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Pool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Output H×W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64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2×2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16 × 64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128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2×2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8 × 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3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256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2×1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4 × 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4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512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2×1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 × 32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2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5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512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2×1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1 × 32  ← height collapsed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78" name="Google Shape;278;p8"/>
          <p:cNvSpPr/>
          <p:nvPr/>
        </p:nvSpPr>
        <p:spPr>
          <a:xfrm>
            <a:off x="4645152" y="2816352"/>
            <a:ext cx="42976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BiLSTM Detail: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9" name="Google Shape;279;p8"/>
          <p:cNvGraphicFramePr/>
          <p:nvPr/>
        </p:nvGraphicFramePr>
        <p:xfrm>
          <a:off x="4645152" y="312724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{F0D055AF-03CF-410B-BF63-7D30EF559A8B}</a:tableStyleId>
              </a:tblPr>
              <a:tblGrid>
                <a:gridCol w="1737350"/>
                <a:gridCol w="2560325"/>
              </a:tblGrid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Input size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512 (CNN feature width)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Hidden size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256 per direction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Directions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Forward + Backward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Layers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 stacked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Output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256×2 = 512 per timestep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Dropout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0.3 between layers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0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</a:rPr>
                        <a:t>Total params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120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000000"/>
                          </a:solidFill>
                        </a:rPr>
                        <a:t>~4.75 Million</a:t>
                      </a:r>
                      <a:endParaRPr sz="1000" u="none" cap="none" strike="noStrike"/>
                    </a:p>
                  </a:txBody>
                  <a:tcPr marT="45725" marB="45725" marR="91450" marL="91450">
                    <a:lnL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0D8E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37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9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CTC Loss — Connectionist Temporal Classification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9"/>
          <p:cNvSpPr/>
          <p:nvPr/>
        </p:nvSpPr>
        <p:spPr>
          <a:xfrm>
            <a:off x="347472" y="93268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What is CTC?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347472" y="1298448"/>
            <a:ext cx="41148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The core problem: </a:t>
            </a:r>
            <a:r>
              <a:rPr lang="en-US" sz="115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Our model outputs 32 predictions (one per column), but each word has only 3–12 characters. How do we train without per-pixel alignment?</a:t>
            </a:r>
            <a:br>
              <a:rPr lang="en-US" sz="115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CTC solves this </a:t>
            </a:r>
            <a:r>
              <a:rPr lang="en-US" sz="115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by allowing the model to predict </a:t>
            </a:r>
            <a:r>
              <a:rPr b="1" lang="en-US" sz="115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blank tokens (−)</a:t>
            </a:r>
            <a:r>
              <a:rPr lang="en-US" sz="115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 and repeat characters, then collapsing the sequence.</a:t>
            </a:r>
            <a:br>
              <a:rPr lang="en-US" sz="115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15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11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No manual segmentation needed.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347472" y="361188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Example: predicting  'राम'  (3 chars)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/>
          <p:nvPr/>
        </p:nvSpPr>
        <p:spPr>
          <a:xfrm>
            <a:off x="347472" y="3931920"/>
            <a:ext cx="347472" cy="457200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347472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9"/>
          <p:cNvSpPr/>
          <p:nvPr/>
        </p:nvSpPr>
        <p:spPr>
          <a:xfrm>
            <a:off x="749808" y="3931920"/>
            <a:ext cx="347472" cy="457200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749808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1152144" y="3931920"/>
            <a:ext cx="347472" cy="45720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1152144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9"/>
          <p:cNvSpPr/>
          <p:nvPr/>
        </p:nvSpPr>
        <p:spPr>
          <a:xfrm>
            <a:off x="1554480" y="3931920"/>
            <a:ext cx="347472" cy="45720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1554480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1956816" y="3931920"/>
            <a:ext cx="347472" cy="457200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1956816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ा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9"/>
          <p:cNvSpPr/>
          <p:nvPr/>
        </p:nvSpPr>
        <p:spPr>
          <a:xfrm>
            <a:off x="2359152" y="3931920"/>
            <a:ext cx="347472" cy="457200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2359152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ा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2761488" y="3931920"/>
            <a:ext cx="347472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2761488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म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9"/>
          <p:cNvSpPr/>
          <p:nvPr/>
        </p:nvSpPr>
        <p:spPr>
          <a:xfrm>
            <a:off x="3163824" y="3931920"/>
            <a:ext cx="347472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3163824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म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9"/>
          <p:cNvSpPr/>
          <p:nvPr/>
        </p:nvSpPr>
        <p:spPr>
          <a:xfrm>
            <a:off x="3566160" y="3931920"/>
            <a:ext cx="347472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3566160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म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9"/>
          <p:cNvSpPr/>
          <p:nvPr/>
        </p:nvSpPr>
        <p:spPr>
          <a:xfrm>
            <a:off x="3968496" y="3931920"/>
            <a:ext cx="347472" cy="457200"/>
          </a:xfrm>
          <a:prstGeom prst="rect">
            <a:avLst/>
          </a:prstGeom>
          <a:solidFill>
            <a:srgbClr val="444444"/>
          </a:solidFill>
          <a:ln cap="flat" cmpd="sng" w="12700">
            <a:solidFill>
              <a:srgbClr val="44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3968496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−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9"/>
          <p:cNvSpPr/>
          <p:nvPr/>
        </p:nvSpPr>
        <p:spPr>
          <a:xfrm>
            <a:off x="347472" y="4425696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alibri"/>
              <a:buNone/>
            </a:pPr>
            <a:r>
              <a:rPr lang="en-US" sz="9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Raw output (32 timesteps shown as 10)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12" name="Google Shape;312;p9"/>
          <p:cNvCxnSpPr/>
          <p:nvPr/>
        </p:nvCxnSpPr>
        <p:spPr>
          <a:xfrm>
            <a:off x="4498848" y="4160520"/>
            <a:ext cx="292608" cy="0"/>
          </a:xfrm>
          <a:prstGeom prst="straightConnector1">
            <a:avLst/>
          </a:prstGeom>
          <a:noFill/>
          <a:ln cap="flat" cmpd="sng" w="254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3" name="Google Shape;313;p9"/>
          <p:cNvSpPr/>
          <p:nvPr/>
        </p:nvSpPr>
        <p:spPr>
          <a:xfrm>
            <a:off x="4517136" y="4041648"/>
            <a:ext cx="25603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800"/>
              <a:buFont typeface="Calibri"/>
              <a:buNone/>
            </a:pPr>
            <a:r>
              <a:rPr b="1" lang="en-US" sz="18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4828032" y="3931920"/>
            <a:ext cx="347472" cy="457200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5230368" y="3931920"/>
            <a:ext cx="347472" cy="457200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5632704" y="3931920"/>
            <a:ext cx="347472" cy="457200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4828032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र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5230368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ा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632704" y="3931920"/>
            <a:ext cx="3474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B143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0B1437"/>
                </a:solidFill>
                <a:latin typeface="Calibri"/>
                <a:ea typeface="Calibri"/>
                <a:cs typeface="Calibri"/>
                <a:sym typeface="Calibri"/>
              </a:rPr>
              <a:t>म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4828032" y="4425696"/>
            <a:ext cx="1371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Decoded: राम  ✓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4645152" y="932688"/>
            <a:ext cx="4315968" cy="2724912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2A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4809744" y="1005840"/>
            <a:ext cx="3986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How We Implement CTC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4809744" y="1408176"/>
            <a:ext cx="91440" cy="329184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4974336" y="1408176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7FE8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3B7FE8"/>
                </a:solidFill>
                <a:latin typeface="Calibri"/>
                <a:ea typeface="Calibri"/>
                <a:cs typeface="Calibri"/>
                <a:sym typeface="Calibri"/>
              </a:rPr>
              <a:t>Loss function: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4974336" y="1572768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B9DC3"/>
                </a:solidFill>
                <a:latin typeface="Consolas"/>
                <a:ea typeface="Consolas"/>
                <a:cs typeface="Consolas"/>
                <a:sym typeface="Consolas"/>
              </a:rPr>
              <a:t>nn.CTCLoss(blank=0, reduction='mean',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B9DC3"/>
                </a:solidFill>
                <a:latin typeface="Consolas"/>
                <a:ea typeface="Consolas"/>
                <a:cs typeface="Consolas"/>
                <a:sym typeface="Consolas"/>
              </a:rPr>
              <a:t>zero_infinity=True)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4809744" y="1810512"/>
            <a:ext cx="91440" cy="32918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4974336" y="1810512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Blank token: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974336" y="1975104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B9DC3"/>
                </a:solidFill>
                <a:latin typeface="Consolas"/>
                <a:ea typeface="Consolas"/>
                <a:cs typeface="Consolas"/>
                <a:sym typeface="Consolas"/>
              </a:rPr>
              <a:t>Index 0 in vocabulary (reserved)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809744" y="2212848"/>
            <a:ext cx="91440" cy="329184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"/>
          <p:cNvSpPr/>
          <p:nvPr/>
        </p:nvSpPr>
        <p:spPr>
          <a:xfrm>
            <a:off x="4974336" y="2212848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Input format: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974336" y="2377440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B9DC3"/>
                </a:solidFill>
                <a:latin typeface="Consolas"/>
                <a:ea typeface="Consolas"/>
                <a:cs typeface="Consolas"/>
                <a:sym typeface="Consolas"/>
              </a:rPr>
              <a:t>log_probs: (T=32, B, V=94)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B9DC3"/>
                </a:solidFill>
                <a:latin typeface="Consolas"/>
                <a:ea typeface="Consolas"/>
                <a:cs typeface="Consolas"/>
                <a:sym typeface="Consolas"/>
              </a:rPr>
              <a:t>input_lens: [32,32,...] per sample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809744" y="2615184"/>
            <a:ext cx="91440" cy="32918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9"/>
          <p:cNvSpPr/>
          <p:nvPr/>
        </p:nvSpPr>
        <p:spPr>
          <a:xfrm>
            <a:off x="4974336" y="2615184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Label format: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974336" y="2779776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B9DC3"/>
                </a:solidFill>
                <a:latin typeface="Consolas"/>
                <a:ea typeface="Consolas"/>
                <a:cs typeface="Consolas"/>
                <a:sym typeface="Consolas"/>
              </a:rPr>
              <a:t>Flat concatenated tensor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B9DC3"/>
                </a:solidFill>
                <a:latin typeface="Consolas"/>
                <a:ea typeface="Consolas"/>
                <a:cs typeface="Consolas"/>
                <a:sym typeface="Consolas"/>
              </a:rPr>
              <a:t>label_lens tells CTC where each ends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809744" y="3017520"/>
            <a:ext cx="91440" cy="329184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9"/>
          <p:cNvSpPr/>
          <p:nvPr/>
        </p:nvSpPr>
        <p:spPr>
          <a:xfrm>
            <a:off x="4974336" y="3017520"/>
            <a:ext cx="13716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C4899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EC4899"/>
                </a:solidFill>
                <a:latin typeface="Calibri"/>
                <a:ea typeface="Calibri"/>
                <a:cs typeface="Calibri"/>
                <a:sym typeface="Calibri"/>
              </a:rPr>
              <a:t>Decoding: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974336" y="3182112"/>
            <a:ext cx="3803904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B9DC3"/>
                </a:solidFill>
                <a:latin typeface="Consolas"/>
                <a:ea typeface="Consolas"/>
                <a:cs typeface="Consolas"/>
                <a:sym typeface="Consolas"/>
              </a:rPr>
              <a:t>Greedy: argmax → collapse repeats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00"/>
              <a:buFont typeface="Consolas"/>
              <a:buNone/>
            </a:pPr>
            <a:r>
              <a:rPr lang="en-US" sz="900">
                <a:solidFill>
                  <a:srgbClr val="8B9DC3"/>
                </a:solidFill>
                <a:latin typeface="Consolas"/>
                <a:ea typeface="Consolas"/>
                <a:cs typeface="Consolas"/>
                <a:sym typeface="Consolas"/>
              </a:rPr>
              <a:t>Beam: width=10, pure Python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347472" y="4736592"/>
            <a:ext cx="8613648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CTC Loss  =  −log P(y | x)  summed over all valid alignments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1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437"/>
          </a:solidFill>
          <a:ln cap="flat" cmpd="sng" w="12700">
            <a:solidFill>
              <a:srgbClr val="0B1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Evaluation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347472" y="932688"/>
            <a:ext cx="1993392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0"/>
          <p:cNvSpPr/>
          <p:nvPr/>
        </p:nvSpPr>
        <p:spPr>
          <a:xfrm>
            <a:off x="347472" y="932688"/>
            <a:ext cx="1993392" cy="73152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347472" y="1024128"/>
            <a:ext cx="199339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11.1%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347472" y="1554480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Best CER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(Greedy)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347472" y="1920240"/>
            <a:ext cx="19933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Epoch 23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2523744" y="932688"/>
            <a:ext cx="1993392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10"/>
          <p:cNvSpPr/>
          <p:nvPr/>
        </p:nvSpPr>
        <p:spPr>
          <a:xfrm>
            <a:off x="2523744" y="932688"/>
            <a:ext cx="1993392" cy="73152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2523744" y="1024128"/>
            <a:ext cx="199339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59E0B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F59E0B"/>
                </a:solidFill>
                <a:latin typeface="Calibri"/>
                <a:ea typeface="Calibri"/>
                <a:cs typeface="Calibri"/>
                <a:sym typeface="Calibri"/>
              </a:rPr>
              <a:t>38.0%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2523744" y="1554480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Word Error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Rate (WER)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2523744" y="1920240"/>
            <a:ext cx="19933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Greedy decode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700016" y="932688"/>
            <a:ext cx="1993392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10"/>
          <p:cNvSpPr/>
          <p:nvPr/>
        </p:nvSpPr>
        <p:spPr>
          <a:xfrm>
            <a:off x="4700016" y="932688"/>
            <a:ext cx="1993392" cy="73152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10"/>
          <p:cNvSpPr/>
          <p:nvPr/>
        </p:nvSpPr>
        <p:spPr>
          <a:xfrm>
            <a:off x="4700016" y="1024128"/>
            <a:ext cx="199339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7FE8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3B7FE8"/>
                </a:solidFill>
                <a:latin typeface="Calibri"/>
                <a:ea typeface="Calibri"/>
                <a:cs typeface="Calibri"/>
                <a:sym typeface="Calibri"/>
              </a:rPr>
              <a:t>62.0%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4700016" y="1554480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Exact Word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4700016" y="1920240"/>
            <a:ext cx="19933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7,980 / 12,869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6876288" y="932688"/>
            <a:ext cx="1993392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0D8E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6876288" y="932688"/>
            <a:ext cx="1993392" cy="73152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0"/>
          <p:cNvSpPr/>
          <p:nvPr/>
        </p:nvSpPr>
        <p:spPr>
          <a:xfrm>
            <a:off x="6876288" y="1024128"/>
            <a:ext cx="1993392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B5CF6"/>
              </a:buClr>
              <a:buSzPts val="2800"/>
              <a:buFont typeface="Calibri"/>
              <a:buNone/>
            </a:pPr>
            <a:r>
              <a:rPr b="1" lang="en-US" sz="2800">
                <a:solidFill>
                  <a:srgbClr val="8B5CF6"/>
                </a:solidFill>
                <a:latin typeface="Calibri"/>
                <a:ea typeface="Calibri"/>
                <a:cs typeface="Calibri"/>
                <a:sym typeface="Calibri"/>
              </a:rPr>
              <a:t>~9%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6876288" y="1554480"/>
            <a:ext cx="1993392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CER with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Beam Search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6876288" y="1920240"/>
            <a:ext cx="19933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900"/>
              <a:buFont typeface="Calibri"/>
              <a:buNone/>
            </a:pPr>
            <a:r>
              <a:rPr i="1" lang="en-US" sz="9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rPr>
              <a:t>width = 10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47472" y="2286000"/>
            <a:ext cx="4663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Validation CER per Epoch (greedy decoding)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8" name="Google Shape;368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472" y="2596896"/>
            <a:ext cx="4663440" cy="2331720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10"/>
          <p:cNvSpPr/>
          <p:nvPr/>
        </p:nvSpPr>
        <p:spPr>
          <a:xfrm>
            <a:off x="5193792" y="228600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Prediction Quality Breakdown (beam search)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70" name="Google Shape;370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7962" y="2679200"/>
            <a:ext cx="3980700" cy="1990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4FF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11"/>
          <p:cNvSpPr/>
          <p:nvPr/>
        </p:nvSpPr>
        <p:spPr>
          <a:xfrm>
            <a:off x="0" y="0"/>
            <a:ext cx="164700" cy="5143500"/>
          </a:xfrm>
          <a:prstGeom prst="rect">
            <a:avLst/>
          </a:prstGeom>
          <a:solidFill>
            <a:srgbClr val="0B1437"/>
          </a:solidFill>
          <a:ln cap="flat" cmpd="sng" w="12700">
            <a:solidFill>
              <a:srgbClr val="0B143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164592" y="0"/>
            <a:ext cx="8979300" cy="82290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365760" y="0"/>
            <a:ext cx="8412600" cy="82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Results &amp; Evaluation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1"/>
          <p:cNvSpPr/>
          <p:nvPr/>
        </p:nvSpPr>
        <p:spPr>
          <a:xfrm>
            <a:off x="715323" y="2364975"/>
            <a:ext cx="21762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Results with some Input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1"/>
          <p:cNvSpPr/>
          <p:nvPr/>
        </p:nvSpPr>
        <p:spPr>
          <a:xfrm>
            <a:off x="4497667" y="2364975"/>
            <a:ext cx="37491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2340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2340"/>
                </a:solidFill>
                <a:latin typeface="Calibri"/>
                <a:ea typeface="Calibri"/>
                <a:cs typeface="Calibri"/>
                <a:sym typeface="Calibri"/>
              </a:rPr>
              <a:t>Sample prediction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81" name="Google Shape;38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7100" y="2712600"/>
            <a:ext cx="2972644" cy="2430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3719" y="2742950"/>
            <a:ext cx="4557000" cy="227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50450" y="846100"/>
            <a:ext cx="3648936" cy="151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6600" y="834500"/>
            <a:ext cx="3037725" cy="15188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1437"/>
        </a:solid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2"/>
          <p:cNvSpPr/>
          <p:nvPr/>
        </p:nvSpPr>
        <p:spPr>
          <a:xfrm>
            <a:off x="164592" y="0"/>
            <a:ext cx="8979408" cy="822960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120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2" name="Google Shape;392;p12"/>
          <p:cNvSpPr/>
          <p:nvPr/>
        </p:nvSpPr>
        <p:spPr>
          <a:xfrm>
            <a:off x="365760" y="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Conclusion &amp; Future Work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12"/>
          <p:cNvSpPr/>
          <p:nvPr/>
        </p:nvSpPr>
        <p:spPr>
          <a:xfrm>
            <a:off x="347472" y="932688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What We Achieved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2"/>
          <p:cNvSpPr/>
          <p:nvPr/>
        </p:nvSpPr>
        <p:spPr>
          <a:xfrm>
            <a:off x="347472" y="1371600"/>
            <a:ext cx="201168" cy="201168"/>
          </a:xfrm>
          <a:prstGeom prst="ellipse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2"/>
          <p:cNvSpPr/>
          <p:nvPr/>
        </p:nvSpPr>
        <p:spPr>
          <a:xfrm>
            <a:off x="640080" y="133502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Built a fully custom OCR pipeline for Devanagari from scratch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2"/>
          <p:cNvSpPr/>
          <p:nvPr/>
        </p:nvSpPr>
        <p:spPr>
          <a:xfrm>
            <a:off x="347472" y="1883664"/>
            <a:ext cx="201168" cy="201168"/>
          </a:xfrm>
          <a:prstGeom prst="ellipse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2"/>
          <p:cNvSpPr/>
          <p:nvPr/>
        </p:nvSpPr>
        <p:spPr>
          <a:xfrm>
            <a:off x="640080" y="1847088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11.1% CER on 12,869 test samples — no pre-trained backbone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2"/>
          <p:cNvSpPr/>
          <p:nvPr/>
        </p:nvSpPr>
        <p:spPr>
          <a:xfrm>
            <a:off x="347472" y="2395728"/>
            <a:ext cx="201168" cy="201168"/>
          </a:xfrm>
          <a:prstGeom prst="ellipse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2"/>
          <p:cNvSpPr/>
          <p:nvPr/>
        </p:nvSpPr>
        <p:spPr>
          <a:xfrm>
            <a:off x="640080" y="2359152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62% exact word match using greedy decoding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2"/>
          <p:cNvSpPr/>
          <p:nvPr/>
        </p:nvSpPr>
        <p:spPr>
          <a:xfrm>
            <a:off x="347472" y="2907792"/>
            <a:ext cx="201168" cy="201168"/>
          </a:xfrm>
          <a:prstGeom prst="ellipse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2"/>
          <p:cNvSpPr/>
          <p:nvPr/>
        </p:nvSpPr>
        <p:spPr>
          <a:xfrm>
            <a:off x="640080" y="2871216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Beam search decoding brings CER down to ~9% post-training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2"/>
          <p:cNvSpPr/>
          <p:nvPr/>
        </p:nvSpPr>
        <p:spPr>
          <a:xfrm>
            <a:off x="347472" y="3419856"/>
            <a:ext cx="201168" cy="201168"/>
          </a:xfrm>
          <a:prstGeom prst="ellipse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2"/>
          <p:cNvSpPr/>
          <p:nvPr/>
        </p:nvSpPr>
        <p:spPr>
          <a:xfrm>
            <a:off x="640080" y="3383280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4.75M parameter model — lightweight and deployable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12"/>
          <p:cNvSpPr/>
          <p:nvPr/>
        </p:nvSpPr>
        <p:spPr>
          <a:xfrm>
            <a:off x="347472" y="3931920"/>
            <a:ext cx="201168" cy="201168"/>
          </a:xfrm>
          <a:prstGeom prst="ellipse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12"/>
          <p:cNvSpPr/>
          <p:nvPr/>
        </p:nvSpPr>
        <p:spPr>
          <a:xfrm>
            <a:off x="640080" y="3895344"/>
            <a:ext cx="3749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EDF8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E8EDF8"/>
                </a:solidFill>
                <a:latin typeface="Calibri"/>
                <a:ea typeface="Calibri"/>
                <a:cs typeface="Calibri"/>
                <a:sym typeface="Calibri"/>
              </a:rPr>
              <a:t>Trained entirely on IIIT-HW-Dev — under 3 hours on RTX 3050 Ti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2"/>
          <p:cNvSpPr/>
          <p:nvPr/>
        </p:nvSpPr>
        <p:spPr>
          <a:xfrm>
            <a:off x="4645152" y="932688"/>
            <a:ext cx="4315968" cy="3493008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2A3A6E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"/>
          <p:cNvSpPr/>
          <p:nvPr/>
        </p:nvSpPr>
        <p:spPr>
          <a:xfrm>
            <a:off x="4809744" y="1005840"/>
            <a:ext cx="3986784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Future Work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2"/>
          <p:cNvSpPr/>
          <p:nvPr/>
        </p:nvSpPr>
        <p:spPr>
          <a:xfrm>
            <a:off x="4809744" y="1426464"/>
            <a:ext cx="91440" cy="420624"/>
          </a:xfrm>
          <a:prstGeom prst="rect">
            <a:avLst/>
          </a:prstGeom>
          <a:solidFill>
            <a:srgbClr val="3B7FE8"/>
          </a:solidFill>
          <a:ln cap="flat" cmpd="sng" w="12700">
            <a:solidFill>
              <a:srgbClr val="3B7F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"/>
          <p:cNvSpPr/>
          <p:nvPr/>
        </p:nvSpPr>
        <p:spPr>
          <a:xfrm>
            <a:off x="4974336" y="1444752"/>
            <a:ext cx="38221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Transformer Backbone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2"/>
          <p:cNvSpPr/>
          <p:nvPr/>
        </p:nvSpPr>
        <p:spPr>
          <a:xfrm>
            <a:off x="4974336" y="1627632"/>
            <a:ext cx="3822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Replace BiLSTM with self-attention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(TrOCR-style) for better long-range context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2"/>
          <p:cNvSpPr/>
          <p:nvPr/>
        </p:nvSpPr>
        <p:spPr>
          <a:xfrm>
            <a:off x="4809744" y="1938528"/>
            <a:ext cx="91440" cy="420624"/>
          </a:xfrm>
          <a:prstGeom prst="rect">
            <a:avLst/>
          </a:prstGeom>
          <a:solidFill>
            <a:srgbClr val="8B5CF6"/>
          </a:solidFill>
          <a:ln cap="flat" cmpd="sng" w="12700">
            <a:solidFill>
              <a:srgbClr val="8B5C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2"/>
          <p:cNvSpPr/>
          <p:nvPr/>
        </p:nvSpPr>
        <p:spPr>
          <a:xfrm>
            <a:off x="4974336" y="1956816"/>
            <a:ext cx="38221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Lexicon-guided Decoding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2"/>
          <p:cNvSpPr/>
          <p:nvPr/>
        </p:nvSpPr>
        <p:spPr>
          <a:xfrm>
            <a:off x="4974336" y="2139696"/>
            <a:ext cx="3822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Constrain beam search to dictionary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words for lower WER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2"/>
          <p:cNvSpPr/>
          <p:nvPr/>
        </p:nvSpPr>
        <p:spPr>
          <a:xfrm>
            <a:off x="4809744" y="2450592"/>
            <a:ext cx="91440" cy="420624"/>
          </a:xfrm>
          <a:prstGeom prst="rect">
            <a:avLst/>
          </a:prstGeom>
          <a:solidFill>
            <a:srgbClr val="F59E0B"/>
          </a:solidFill>
          <a:ln cap="flat" cmpd="sng" w="12700">
            <a:solidFill>
              <a:srgbClr val="F59E0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5" name="Google Shape;415;p12"/>
          <p:cNvSpPr/>
          <p:nvPr/>
        </p:nvSpPr>
        <p:spPr>
          <a:xfrm>
            <a:off x="4974336" y="2468880"/>
            <a:ext cx="38221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Line-level Recognition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2"/>
          <p:cNvSpPr/>
          <p:nvPr/>
        </p:nvSpPr>
        <p:spPr>
          <a:xfrm>
            <a:off x="4974336" y="2651760"/>
            <a:ext cx="3822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Extend from word-level to full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handwritten line OCR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2"/>
          <p:cNvSpPr/>
          <p:nvPr/>
        </p:nvSpPr>
        <p:spPr>
          <a:xfrm>
            <a:off x="4809744" y="2962656"/>
            <a:ext cx="91440" cy="420624"/>
          </a:xfrm>
          <a:prstGeom prst="rect">
            <a:avLst/>
          </a:prstGeom>
          <a:solidFill>
            <a:srgbClr val="EC4899"/>
          </a:solidFill>
          <a:ln cap="flat" cmpd="sng" w="12700">
            <a:solidFill>
              <a:srgbClr val="EC48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12"/>
          <p:cNvSpPr/>
          <p:nvPr/>
        </p:nvSpPr>
        <p:spPr>
          <a:xfrm>
            <a:off x="4974336" y="2980944"/>
            <a:ext cx="38221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Synthesis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2"/>
          <p:cNvSpPr/>
          <p:nvPr/>
        </p:nvSpPr>
        <p:spPr>
          <a:xfrm>
            <a:off x="4974336" y="3163824"/>
            <a:ext cx="3822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Generate synthetic Devanagari words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to increase training diversity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2"/>
          <p:cNvSpPr/>
          <p:nvPr/>
        </p:nvSpPr>
        <p:spPr>
          <a:xfrm>
            <a:off x="4809744" y="3474720"/>
            <a:ext cx="91440" cy="420624"/>
          </a:xfrm>
          <a:prstGeom prst="rect">
            <a:avLst/>
          </a:prstGeom>
          <a:solidFill>
            <a:srgbClr val="1DCFAA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12"/>
          <p:cNvSpPr/>
          <p:nvPr/>
        </p:nvSpPr>
        <p:spPr>
          <a:xfrm>
            <a:off x="4974336" y="3493008"/>
            <a:ext cx="3822192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Deployment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2"/>
          <p:cNvSpPr/>
          <p:nvPr/>
        </p:nvSpPr>
        <p:spPr>
          <a:xfrm>
            <a:off x="4974336" y="3675888"/>
            <a:ext cx="3822192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Export to ONNX / TFLite for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B9DC3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B9DC3"/>
                </a:solidFill>
                <a:latin typeface="Calibri"/>
                <a:ea typeface="Calibri"/>
                <a:cs typeface="Calibri"/>
                <a:sym typeface="Calibri"/>
              </a:rPr>
              <a:t>on-device inference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2"/>
          <p:cNvSpPr/>
          <p:nvPr/>
        </p:nvSpPr>
        <p:spPr>
          <a:xfrm>
            <a:off x="347472" y="4572000"/>
            <a:ext cx="8613648" cy="384048"/>
          </a:xfrm>
          <a:prstGeom prst="rect">
            <a:avLst/>
          </a:prstGeom>
          <a:solidFill>
            <a:srgbClr val="112054"/>
          </a:solidFill>
          <a:ln cap="flat" cmpd="sng" w="12700">
            <a:solidFill>
              <a:srgbClr val="1DCFA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12"/>
          <p:cNvSpPr/>
          <p:nvPr/>
        </p:nvSpPr>
        <p:spPr>
          <a:xfrm>
            <a:off x="347472" y="4572000"/>
            <a:ext cx="86136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DCFAA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1DCFAA"/>
                </a:solidFill>
                <a:latin typeface="Calibri"/>
                <a:ea typeface="Calibri"/>
                <a:cs typeface="Calibri"/>
                <a:sym typeface="Calibri"/>
              </a:rPr>
              <a:t>"A small but dedicated model, trained right, outperforms a generic one trained on everything."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